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256" r:id="rId2"/>
    <p:sldId id="380" r:id="rId3"/>
    <p:sldId id="385" r:id="rId4"/>
    <p:sldId id="386" r:id="rId5"/>
    <p:sldId id="352" r:id="rId6"/>
    <p:sldId id="353" r:id="rId7"/>
    <p:sldId id="271" r:id="rId8"/>
    <p:sldId id="384" r:id="rId9"/>
    <p:sldId id="387" r:id="rId10"/>
    <p:sldId id="388" r:id="rId11"/>
    <p:sldId id="389" r:id="rId12"/>
    <p:sldId id="390" r:id="rId13"/>
    <p:sldId id="392" r:id="rId14"/>
    <p:sldId id="391" r:id="rId15"/>
    <p:sldId id="393" r:id="rId16"/>
    <p:sldId id="394" r:id="rId17"/>
    <p:sldId id="395" r:id="rId18"/>
    <p:sldId id="396" r:id="rId19"/>
    <p:sldId id="397" r:id="rId20"/>
    <p:sldId id="382" r:id="rId21"/>
    <p:sldId id="398" r:id="rId22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7" r:id="rId31"/>
    <p:sldId id="408" r:id="rId32"/>
    <p:sldId id="409" r:id="rId33"/>
    <p:sldId id="370" r:id="rId34"/>
    <p:sldId id="372" r:id="rId35"/>
  </p:sldIdLst>
  <p:sldSz cx="9144000" cy="5143500" type="screen16x9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999"/>
    <a:srgbClr val="00CC99"/>
    <a:srgbClr val="ED6363"/>
    <a:srgbClr val="FFC000"/>
    <a:srgbClr val="8064A2"/>
    <a:srgbClr val="9BBB59"/>
    <a:srgbClr val="C0504D"/>
    <a:srgbClr val="E6E6E6"/>
    <a:srgbClr val="FB86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7" autoAdjust="0"/>
    <p:restoredTop sz="96723" autoAdjust="0"/>
  </p:normalViewPr>
  <p:slideViewPr>
    <p:cSldViewPr>
      <p:cViewPr varScale="1">
        <p:scale>
          <a:sx n="151" d="100"/>
          <a:sy n="151" d="100"/>
        </p:scale>
        <p:origin x="828" y="1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313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/>
      <dgm:t>
        <a:bodyPr/>
        <a:lstStyle/>
        <a:p>
          <a:r>
            <a:rPr lang="de-DE" dirty="0" smtClean="0"/>
            <a:t>Wie finde ich überhaupt Comics in der DNB?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/>
      <dgm:t>
        <a:bodyPr/>
        <a:lstStyle/>
        <a:p>
          <a:r>
            <a:rPr lang="de-DE" dirty="0" smtClean="0"/>
            <a:t>Wie bekomme ich diese Daten?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/>
      <dgm:t>
        <a:bodyPr/>
        <a:lstStyle/>
        <a:p>
          <a:r>
            <a:rPr lang="de-DE" dirty="0" smtClean="0"/>
            <a:t>Wie gehe ich mit dem, was ich da erhalten habe, um?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/>
      <dgm:t>
        <a:bodyPr/>
        <a:lstStyle/>
        <a:p>
          <a:r>
            <a:rPr lang="de-DE" dirty="0" smtClean="0"/>
            <a:t>Wie kann ich die Daten analysieren?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8283" custLinFactNeighborX="-100000" custLinFactNeighborY="-17">
        <dgm:presLayoutVars>
          <dgm:bulletEnabled val="1"/>
        </dgm:presLayoutVars>
      </dgm:prSet>
      <dgm:spPr/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320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>
          <a:glow rad="101600">
            <a:srgbClr val="FFFF00">
              <a:alpha val="60000"/>
            </a:srgbClr>
          </a:glow>
        </a:effectLst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>
          <a:glow rad="101600">
            <a:srgbClr val="FFFF00">
              <a:alpha val="60000"/>
            </a:srgbClr>
          </a:glow>
        </a:effectLst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  <a:effectLst>
          <a:glow rad="101600">
            <a:srgbClr val="FFFF00">
              <a:alpha val="60000"/>
            </a:srgbClr>
          </a:glow>
        </a:effectLst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  <a:effectLst>
          <a:glow rad="228600">
            <a:srgbClr val="FFFF00">
              <a:alpha val="40000"/>
            </a:srgbClr>
          </a:glow>
        </a:effectLst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  <a:effectLst>
          <a:glow rad="228600">
            <a:srgbClr val="FFFF00">
              <a:alpha val="40000"/>
            </a:srgbClr>
          </a:glow>
        </a:effectLst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  <a:effectLst>
          <a:glow rad="228600">
            <a:srgbClr val="FFFF00">
              <a:alpha val="40000"/>
            </a:srgbClr>
          </a:glow>
        </a:effectLst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  <a:effectLst>
          <a:glow rad="101600">
            <a:srgbClr val="FFFF00">
              <a:alpha val="60000"/>
            </a:srgbClr>
          </a:glow>
        </a:effectLst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  <a:effectLst>
          <a:glow rad="101600">
            <a:srgbClr val="FFFF00">
              <a:alpha val="60000"/>
            </a:srgbClr>
          </a:glow>
        </a:effectLst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33F8295-EF5A-4E36-A29D-98B9A9D268C8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7DEA80A-68C4-4726-B3CF-BD18A14B2501}">
      <dgm:prSet phldrT="[Text]"/>
      <dgm:spPr>
        <a:solidFill>
          <a:srgbClr val="00B050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Suchen im DNB-Katalog</a:t>
          </a:r>
          <a:endParaRPr lang="de-DE" dirty="0"/>
        </a:p>
      </dgm:t>
    </dgm:pt>
    <dgm:pt modelId="{8DA38560-BB26-445A-A0E0-92D171886114}" type="parTrans" cxnId="{34844537-6127-4629-AB4E-A0874D42DA0A}">
      <dgm:prSet/>
      <dgm:spPr/>
      <dgm:t>
        <a:bodyPr/>
        <a:lstStyle/>
        <a:p>
          <a:endParaRPr lang="de-DE"/>
        </a:p>
      </dgm:t>
    </dgm:pt>
    <dgm:pt modelId="{ECDF8BAD-EC6B-4040-A19E-D395838282C9}" type="sibTrans" cxnId="{34844537-6127-4629-AB4E-A0874D42DA0A}">
      <dgm:prSet/>
      <dgm:spPr/>
      <dgm:t>
        <a:bodyPr/>
        <a:lstStyle/>
        <a:p>
          <a:endParaRPr lang="de-DE"/>
        </a:p>
      </dgm:t>
    </dgm:pt>
    <dgm:pt modelId="{E245F138-DF3D-4EF7-B450-71CECC186C2B}">
      <dgm:prSet phldrT="[Text]"/>
      <dgm:spPr>
        <a:solidFill>
          <a:srgbClr val="0070C0">
            <a:alpha val="50000"/>
          </a:srgbClr>
        </a:solidFill>
      </dgm:spPr>
      <dgm:t>
        <a:bodyPr/>
        <a:lstStyle/>
        <a:p>
          <a:r>
            <a:rPr lang="de-DE" dirty="0" smtClean="0"/>
            <a:t>Bezug von Metadaten</a:t>
          </a:r>
          <a:endParaRPr lang="de-DE" dirty="0"/>
        </a:p>
      </dgm:t>
    </dgm:pt>
    <dgm:pt modelId="{14434801-D708-41B4-9ED7-CD4FC639E60D}" type="parTrans" cxnId="{52E4B7FC-07E4-45EC-8878-718E4E12BBB4}">
      <dgm:prSet/>
      <dgm:spPr/>
      <dgm:t>
        <a:bodyPr/>
        <a:lstStyle/>
        <a:p>
          <a:endParaRPr lang="de-DE"/>
        </a:p>
      </dgm:t>
    </dgm:pt>
    <dgm:pt modelId="{E1C386FB-97B4-4B1A-B376-64848065BFDF}" type="sibTrans" cxnId="{52E4B7FC-07E4-45EC-8878-718E4E12BBB4}">
      <dgm:prSet/>
      <dgm:spPr/>
      <dgm:t>
        <a:bodyPr/>
        <a:lstStyle/>
        <a:p>
          <a:endParaRPr lang="de-DE"/>
        </a:p>
      </dgm:t>
    </dgm:pt>
    <dgm:pt modelId="{1C1B5F4C-C2C3-4D9A-889D-048A1A2D1098}">
      <dgm:prSet phldrT="[Text]"/>
      <dgm:spPr>
        <a:solidFill>
          <a:srgbClr val="ED6363">
            <a:alpha val="50000"/>
          </a:srgbClr>
        </a:solidFill>
        <a:effectLst/>
      </dgm:spPr>
      <dgm:t>
        <a:bodyPr/>
        <a:lstStyle/>
        <a:p>
          <a:r>
            <a:rPr lang="de-DE" dirty="0" smtClean="0"/>
            <a:t>Metadaten-formate</a:t>
          </a:r>
          <a:endParaRPr lang="de-DE" dirty="0"/>
        </a:p>
      </dgm:t>
    </dgm:pt>
    <dgm:pt modelId="{5B5C560A-5EE6-42A4-820B-CA4D2BEBC985}" type="parTrans" cxnId="{D043ACB1-6D99-40AC-8A99-44420F97F66D}">
      <dgm:prSet/>
      <dgm:spPr/>
      <dgm:t>
        <a:bodyPr/>
        <a:lstStyle/>
        <a:p>
          <a:endParaRPr lang="de-DE"/>
        </a:p>
      </dgm:t>
    </dgm:pt>
    <dgm:pt modelId="{87608E00-CA56-402B-BA2F-32FF22F1A344}" type="sibTrans" cxnId="{D043ACB1-6D99-40AC-8A99-44420F97F66D}">
      <dgm:prSet/>
      <dgm:spPr/>
      <dgm:t>
        <a:bodyPr/>
        <a:lstStyle/>
        <a:p>
          <a:endParaRPr lang="de-DE"/>
        </a:p>
      </dgm:t>
    </dgm:pt>
    <dgm:pt modelId="{A1D8B5FB-3906-46F2-A883-9F66B6152F8D}">
      <dgm:prSet phldrT="[Text]"/>
      <dgm:spPr>
        <a:solidFill>
          <a:srgbClr val="FFC000">
            <a:alpha val="50000"/>
          </a:srgbClr>
        </a:solidFill>
        <a:effectLst>
          <a:glow rad="101600">
            <a:srgbClr val="FFFF00">
              <a:alpha val="60000"/>
            </a:srgbClr>
          </a:glow>
        </a:effectLst>
      </dgm:spPr>
      <dgm:t>
        <a:bodyPr/>
        <a:lstStyle/>
        <a:p>
          <a:r>
            <a:rPr lang="de-DE" dirty="0" smtClean="0"/>
            <a:t>Metadaten-analyse</a:t>
          </a:r>
          <a:endParaRPr lang="de-DE" dirty="0"/>
        </a:p>
      </dgm:t>
    </dgm:pt>
    <dgm:pt modelId="{2CBB2AF0-5FC8-402F-AE4B-A3EF010BA7D6}" type="parTrans" cxnId="{56517409-7174-4768-A1FE-61FF2F32D22B}">
      <dgm:prSet/>
      <dgm:spPr/>
      <dgm:t>
        <a:bodyPr/>
        <a:lstStyle/>
        <a:p>
          <a:endParaRPr lang="de-DE"/>
        </a:p>
      </dgm:t>
    </dgm:pt>
    <dgm:pt modelId="{20D47CE8-0DBF-455D-8D1F-0B95625C600E}" type="sibTrans" cxnId="{56517409-7174-4768-A1FE-61FF2F32D22B}">
      <dgm:prSet/>
      <dgm:spPr/>
      <dgm:t>
        <a:bodyPr/>
        <a:lstStyle/>
        <a:p>
          <a:endParaRPr lang="de-DE"/>
        </a:p>
      </dgm:t>
    </dgm:pt>
    <dgm:pt modelId="{AE74C03C-65DA-462E-9E33-C616951D7BB7}" type="pres">
      <dgm:prSet presAssocID="{033F8295-EF5A-4E36-A29D-98B9A9D268C8}" presName="Name0" presStyleCnt="0">
        <dgm:presLayoutVars>
          <dgm:dir/>
          <dgm:resizeHandles val="exact"/>
        </dgm:presLayoutVars>
      </dgm:prSet>
      <dgm:spPr/>
    </dgm:pt>
    <dgm:pt modelId="{E1B6DF76-D1D9-4BD2-B734-AB8CD4CE22AB}" type="pres">
      <dgm:prSet presAssocID="{77DEA80A-68C4-4726-B3CF-BD18A14B2501}" presName="Name5" presStyleLbl="vennNode1" presStyleIdx="0" presStyleCnt="4" custLinFactX="-100000" custLinFactNeighborX="-106384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EA10769C-3C1B-400C-BFC7-088C1409CF96}" type="pres">
      <dgm:prSet presAssocID="{ECDF8BAD-EC6B-4040-A19E-D395838282C9}" presName="space" presStyleCnt="0"/>
      <dgm:spPr/>
    </dgm:pt>
    <dgm:pt modelId="{71730844-00FB-4A9F-BE2F-C5364BEACCF5}" type="pres">
      <dgm:prSet presAssocID="{E245F138-DF3D-4EF7-B450-71CECC186C2B}" presName="Name5" presStyleLbl="vennNode1" presStyleIdx="1" presStyleCnt="4" custLinFactX="-26339" custLinFactNeighborX="-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FCF92EB-89A5-47E3-A765-0B45AFDCB006}" type="pres">
      <dgm:prSet presAssocID="{E1C386FB-97B4-4B1A-B376-64848065BFDF}" presName="space" presStyleCnt="0"/>
      <dgm:spPr/>
    </dgm:pt>
    <dgm:pt modelId="{64E60923-5ED9-43E4-9FA2-65EB3F22CB51}" type="pres">
      <dgm:prSet presAssocID="{1C1B5F4C-C2C3-4D9A-889D-048A1A2D1098}" presName="Name5" presStyleLbl="vennNode1" presStyleIdx="2" presStyleCnt="4" custLinFactX="4711" custLinFactNeighborX="100000" custLinFactNeighborY="-17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4C3F483-83E8-420C-822C-5B7EA50FCDAC}" type="pres">
      <dgm:prSet presAssocID="{87608E00-CA56-402B-BA2F-32FF22F1A344}" presName="space" presStyleCnt="0"/>
      <dgm:spPr/>
    </dgm:pt>
    <dgm:pt modelId="{D8AC18BD-875D-4782-A68C-533ECF89F98E}" type="pres">
      <dgm:prSet presAssocID="{A1D8B5FB-3906-46F2-A883-9F66B6152F8D}" presName="Name5" presStyleLbl="vennNode1" presStyleIdx="3" presStyleCnt="4" custLinFactX="77705" custLinFactNeighborX="100000" custLinFactNeighborY="-194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80CAD1FF-D2BE-4B47-9EF1-1C447A7DD832}" type="presOf" srcId="{A1D8B5FB-3906-46F2-A883-9F66B6152F8D}" destId="{D8AC18BD-875D-4782-A68C-533ECF89F98E}" srcOrd="0" destOrd="0" presId="urn:microsoft.com/office/officeart/2005/8/layout/venn3"/>
    <dgm:cxn modelId="{AA565DB2-595E-4F8E-BA7C-59854A07FD0E}" type="presOf" srcId="{E245F138-DF3D-4EF7-B450-71CECC186C2B}" destId="{71730844-00FB-4A9F-BE2F-C5364BEACCF5}" srcOrd="0" destOrd="0" presId="urn:microsoft.com/office/officeart/2005/8/layout/venn3"/>
    <dgm:cxn modelId="{52E4B7FC-07E4-45EC-8878-718E4E12BBB4}" srcId="{033F8295-EF5A-4E36-A29D-98B9A9D268C8}" destId="{E245F138-DF3D-4EF7-B450-71CECC186C2B}" srcOrd="1" destOrd="0" parTransId="{14434801-D708-41B4-9ED7-CD4FC639E60D}" sibTransId="{E1C386FB-97B4-4B1A-B376-64848065BFDF}"/>
    <dgm:cxn modelId="{56517409-7174-4768-A1FE-61FF2F32D22B}" srcId="{033F8295-EF5A-4E36-A29D-98B9A9D268C8}" destId="{A1D8B5FB-3906-46F2-A883-9F66B6152F8D}" srcOrd="3" destOrd="0" parTransId="{2CBB2AF0-5FC8-402F-AE4B-A3EF010BA7D6}" sibTransId="{20D47CE8-0DBF-455D-8D1F-0B95625C600E}"/>
    <dgm:cxn modelId="{9C3B59D9-99AB-427A-B57B-778E4E1ECD56}" type="presOf" srcId="{033F8295-EF5A-4E36-A29D-98B9A9D268C8}" destId="{AE74C03C-65DA-462E-9E33-C616951D7BB7}" srcOrd="0" destOrd="0" presId="urn:microsoft.com/office/officeart/2005/8/layout/venn3"/>
    <dgm:cxn modelId="{20596623-93CA-4B97-89ED-7872D355B05F}" type="presOf" srcId="{77DEA80A-68C4-4726-B3CF-BD18A14B2501}" destId="{E1B6DF76-D1D9-4BD2-B734-AB8CD4CE22AB}" srcOrd="0" destOrd="0" presId="urn:microsoft.com/office/officeart/2005/8/layout/venn3"/>
    <dgm:cxn modelId="{D043ACB1-6D99-40AC-8A99-44420F97F66D}" srcId="{033F8295-EF5A-4E36-A29D-98B9A9D268C8}" destId="{1C1B5F4C-C2C3-4D9A-889D-048A1A2D1098}" srcOrd="2" destOrd="0" parTransId="{5B5C560A-5EE6-42A4-820B-CA4D2BEBC985}" sibTransId="{87608E00-CA56-402B-BA2F-32FF22F1A344}"/>
    <dgm:cxn modelId="{34844537-6127-4629-AB4E-A0874D42DA0A}" srcId="{033F8295-EF5A-4E36-A29D-98B9A9D268C8}" destId="{77DEA80A-68C4-4726-B3CF-BD18A14B2501}" srcOrd="0" destOrd="0" parTransId="{8DA38560-BB26-445A-A0E0-92D171886114}" sibTransId="{ECDF8BAD-EC6B-4040-A19E-D395838282C9}"/>
    <dgm:cxn modelId="{2BCDC8A8-5AB4-432F-94EF-40729A082E9B}" type="presOf" srcId="{1C1B5F4C-C2C3-4D9A-889D-048A1A2D1098}" destId="{64E60923-5ED9-43E4-9FA2-65EB3F22CB51}" srcOrd="0" destOrd="0" presId="urn:microsoft.com/office/officeart/2005/8/layout/venn3"/>
    <dgm:cxn modelId="{E5C61647-84F5-499F-BABB-15C575489439}" type="presParOf" srcId="{AE74C03C-65DA-462E-9E33-C616951D7BB7}" destId="{E1B6DF76-D1D9-4BD2-B734-AB8CD4CE22AB}" srcOrd="0" destOrd="0" presId="urn:microsoft.com/office/officeart/2005/8/layout/venn3"/>
    <dgm:cxn modelId="{0ECB31EE-FFD5-42DA-81DD-13C5024148A7}" type="presParOf" srcId="{AE74C03C-65DA-462E-9E33-C616951D7BB7}" destId="{EA10769C-3C1B-400C-BFC7-088C1409CF96}" srcOrd="1" destOrd="0" presId="urn:microsoft.com/office/officeart/2005/8/layout/venn3"/>
    <dgm:cxn modelId="{838322F2-DBB1-429F-A963-1736FB088BBA}" type="presParOf" srcId="{AE74C03C-65DA-462E-9E33-C616951D7BB7}" destId="{71730844-00FB-4A9F-BE2F-C5364BEACCF5}" srcOrd="2" destOrd="0" presId="urn:microsoft.com/office/officeart/2005/8/layout/venn3"/>
    <dgm:cxn modelId="{6E457763-CB15-48D4-A1B8-C25825638DAB}" type="presParOf" srcId="{AE74C03C-65DA-462E-9E33-C616951D7BB7}" destId="{4FCF92EB-89A5-47E3-A765-0B45AFDCB006}" srcOrd="3" destOrd="0" presId="urn:microsoft.com/office/officeart/2005/8/layout/venn3"/>
    <dgm:cxn modelId="{5014BEFD-C74E-4558-B478-A27226F20477}" type="presParOf" srcId="{AE74C03C-65DA-462E-9E33-C616951D7BB7}" destId="{64E60923-5ED9-43E4-9FA2-65EB3F22CB51}" srcOrd="4" destOrd="0" presId="urn:microsoft.com/office/officeart/2005/8/layout/venn3"/>
    <dgm:cxn modelId="{BE1A8307-1109-4BF2-9E09-C8C4EBBD7C25}" type="presParOf" srcId="{AE74C03C-65DA-462E-9E33-C616951D7BB7}" destId="{24C3F483-83E8-420C-822C-5B7EA50FCDAC}" srcOrd="5" destOrd="0" presId="urn:microsoft.com/office/officeart/2005/8/layout/venn3"/>
    <dgm:cxn modelId="{507E2167-662E-4D47-9D8A-4CB873A588D5}" type="presParOf" srcId="{AE74C03C-65DA-462E-9E33-C616951D7BB7}" destId="{D8AC18BD-875D-4782-A68C-533ECF89F98E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504056" y="2"/>
          <a:ext cx="1223714" cy="1223714"/>
        </a:xfrm>
        <a:prstGeom prst="ellipse">
          <a:avLst/>
        </a:prstGeom>
        <a:solidFill>
          <a:schemeClr val="accent6">
            <a:shade val="80000"/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1430" rIns="673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900" kern="1200" dirty="0" smtClean="0"/>
            <a:t>Wie finde ich überhaupt Comics in der DNB?</a:t>
          </a:r>
          <a:endParaRPr lang="de-DE" sz="900" kern="1200" dirty="0"/>
        </a:p>
      </dsp:txBody>
      <dsp:txXfrm>
        <a:off x="683265" y="179211"/>
        <a:ext cx="865296" cy="865296"/>
      </dsp:txXfrm>
    </dsp:sp>
    <dsp:sp modelId="{71730844-00FB-4A9F-BE2F-C5364BEACCF5}">
      <dsp:nvSpPr>
        <dsp:cNvPr id="0" name=""/>
        <dsp:cNvSpPr/>
      </dsp:nvSpPr>
      <dsp:spPr>
        <a:xfrm>
          <a:off x="2376263" y="2"/>
          <a:ext cx="1223714" cy="1223714"/>
        </a:xfrm>
        <a:prstGeom prst="ellipse">
          <a:avLst/>
        </a:prstGeom>
        <a:solidFill>
          <a:schemeClr val="accent6">
            <a:shade val="80000"/>
            <a:alpha val="50000"/>
            <a:hueOff val="0"/>
            <a:satOff val="-258"/>
            <a:lumOff val="1225"/>
            <a:alphaOff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1430" rIns="673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900" kern="1200" dirty="0" smtClean="0"/>
            <a:t>Wie bekomme ich diese Daten?</a:t>
          </a:r>
          <a:endParaRPr lang="de-DE" sz="900" kern="1200" dirty="0"/>
        </a:p>
      </dsp:txBody>
      <dsp:txXfrm>
        <a:off x="2555472" y="179211"/>
        <a:ext cx="865296" cy="865296"/>
      </dsp:txXfrm>
    </dsp:sp>
    <dsp:sp modelId="{64E60923-5ED9-43E4-9FA2-65EB3F22CB51}">
      <dsp:nvSpPr>
        <dsp:cNvPr id="0" name=""/>
        <dsp:cNvSpPr/>
      </dsp:nvSpPr>
      <dsp:spPr>
        <a:xfrm>
          <a:off x="4229994" y="2"/>
          <a:ext cx="1223714" cy="1223714"/>
        </a:xfrm>
        <a:prstGeom prst="ellipse">
          <a:avLst/>
        </a:prstGeom>
        <a:solidFill>
          <a:schemeClr val="accent6">
            <a:shade val="80000"/>
            <a:alpha val="50000"/>
            <a:hueOff val="0"/>
            <a:satOff val="-515"/>
            <a:lumOff val="2449"/>
            <a:alphaOff val="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1430" rIns="673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900" kern="1200" dirty="0" smtClean="0"/>
            <a:t>Wie gehe ich mit dem, was ich da erhalten habe, um?</a:t>
          </a:r>
          <a:endParaRPr lang="de-DE" sz="900" kern="1200" dirty="0"/>
        </a:p>
      </dsp:txBody>
      <dsp:txXfrm>
        <a:off x="4409203" y="179211"/>
        <a:ext cx="865296" cy="865296"/>
      </dsp:txXfrm>
    </dsp:sp>
    <dsp:sp modelId="{D8AC18BD-875D-4782-A68C-533ECF89F98E}">
      <dsp:nvSpPr>
        <dsp:cNvPr id="0" name=""/>
        <dsp:cNvSpPr/>
      </dsp:nvSpPr>
      <dsp:spPr>
        <a:xfrm>
          <a:off x="6120681" y="2"/>
          <a:ext cx="1223714" cy="1223714"/>
        </a:xfrm>
        <a:prstGeom prst="ellipse">
          <a:avLst/>
        </a:prstGeom>
        <a:solidFill>
          <a:schemeClr val="accent6">
            <a:shade val="80000"/>
            <a:alpha val="50000"/>
            <a:hueOff val="0"/>
            <a:satOff val="-773"/>
            <a:lumOff val="3674"/>
            <a:alphaOff val="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1430" rIns="67345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900" kern="1200" dirty="0" smtClean="0"/>
            <a:t>Wie kann ich die Daten analysieren?</a:t>
          </a:r>
          <a:endParaRPr lang="de-DE" sz="900" kern="1200" dirty="0"/>
        </a:p>
      </dsp:txBody>
      <dsp:txXfrm>
        <a:off x="6299890" y="179211"/>
        <a:ext cx="865296" cy="8652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504056" y="0"/>
          <a:ext cx="1223714" cy="1223714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2700" rIns="67345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smtClean="0"/>
            <a:t>Suchen im DNB-Katalog</a:t>
          </a:r>
          <a:endParaRPr lang="de-DE" sz="1000" kern="1200" dirty="0"/>
        </a:p>
      </dsp:txBody>
      <dsp:txXfrm>
        <a:off x="683265" y="179209"/>
        <a:ext cx="865296" cy="865296"/>
      </dsp:txXfrm>
    </dsp:sp>
    <dsp:sp modelId="{71730844-00FB-4A9F-BE2F-C5364BEACCF5}">
      <dsp:nvSpPr>
        <dsp:cNvPr id="0" name=""/>
        <dsp:cNvSpPr/>
      </dsp:nvSpPr>
      <dsp:spPr>
        <a:xfrm>
          <a:off x="2400052" y="2"/>
          <a:ext cx="1223714" cy="1223714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2700" rIns="67345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smtClean="0"/>
            <a:t>Bezug von Metadaten</a:t>
          </a:r>
          <a:endParaRPr lang="de-DE" sz="1000" kern="1200" dirty="0"/>
        </a:p>
      </dsp:txBody>
      <dsp:txXfrm>
        <a:off x="2579261" y="179211"/>
        <a:ext cx="865296" cy="865296"/>
      </dsp:txXfrm>
    </dsp:sp>
    <dsp:sp modelId="{64E60923-5ED9-43E4-9FA2-65EB3F22CB51}">
      <dsp:nvSpPr>
        <dsp:cNvPr id="0" name=""/>
        <dsp:cNvSpPr/>
      </dsp:nvSpPr>
      <dsp:spPr>
        <a:xfrm>
          <a:off x="4248472" y="2"/>
          <a:ext cx="1223714" cy="1223714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2700" rIns="67345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smtClean="0"/>
            <a:t>Metadaten-formate</a:t>
          </a:r>
          <a:endParaRPr lang="de-DE" sz="1000" kern="1200" dirty="0"/>
        </a:p>
      </dsp:txBody>
      <dsp:txXfrm>
        <a:off x="4427681" y="179211"/>
        <a:ext cx="865296" cy="865296"/>
      </dsp:txXfrm>
    </dsp:sp>
    <dsp:sp modelId="{D8AC18BD-875D-4782-A68C-533ECF89F98E}">
      <dsp:nvSpPr>
        <dsp:cNvPr id="0" name=""/>
        <dsp:cNvSpPr/>
      </dsp:nvSpPr>
      <dsp:spPr>
        <a:xfrm>
          <a:off x="6120681" y="0"/>
          <a:ext cx="1223714" cy="1223714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7345" tIns="12700" rIns="67345" bIns="127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kern="1200" dirty="0" smtClean="0"/>
            <a:t>Metadaten-analyse</a:t>
          </a:r>
          <a:endParaRPr lang="de-DE" sz="1000" kern="1200" dirty="0"/>
        </a:p>
      </dsp:txBody>
      <dsp:txXfrm>
        <a:off x="6299890" y="179209"/>
        <a:ext cx="865296" cy="8652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rgbClr val="FFFF00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rgbClr val="FFFF00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rgbClr val="FFFF00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228600">
            <a:srgbClr val="FFFF00">
              <a:alpha val="4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228600">
            <a:srgbClr val="FFFF00">
              <a:alpha val="4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228600">
            <a:srgbClr val="FFFF00">
              <a:alpha val="4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rgbClr val="FFFF00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rgbClr val="FFFF00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6DF76-D1D9-4BD2-B734-AB8CD4CE22AB}">
      <dsp:nvSpPr>
        <dsp:cNvPr id="0" name=""/>
        <dsp:cNvSpPr/>
      </dsp:nvSpPr>
      <dsp:spPr>
        <a:xfrm>
          <a:off x="1835857" y="0"/>
          <a:ext cx="568700" cy="568700"/>
        </a:xfrm>
        <a:prstGeom prst="ellipse">
          <a:avLst/>
        </a:prstGeom>
        <a:solidFill>
          <a:srgbClr val="00B05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Suchen im DNB-Katalog</a:t>
          </a:r>
          <a:endParaRPr lang="de-DE" sz="500" kern="1200" dirty="0"/>
        </a:p>
      </dsp:txBody>
      <dsp:txXfrm>
        <a:off x="1919141" y="83284"/>
        <a:ext cx="402132" cy="402132"/>
      </dsp:txXfrm>
    </dsp:sp>
    <dsp:sp modelId="{71730844-00FB-4A9F-BE2F-C5364BEACCF5}">
      <dsp:nvSpPr>
        <dsp:cNvPr id="0" name=""/>
        <dsp:cNvSpPr/>
      </dsp:nvSpPr>
      <dsp:spPr>
        <a:xfrm>
          <a:off x="2716990" y="16"/>
          <a:ext cx="568700" cy="568700"/>
        </a:xfrm>
        <a:prstGeom prst="ellipse">
          <a:avLst/>
        </a:prstGeom>
        <a:solidFill>
          <a:srgbClr val="0070C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Bezug von Metadaten</a:t>
          </a:r>
          <a:endParaRPr lang="de-DE" sz="500" kern="1200" dirty="0"/>
        </a:p>
      </dsp:txBody>
      <dsp:txXfrm>
        <a:off x="2800274" y="83300"/>
        <a:ext cx="402132" cy="402132"/>
      </dsp:txXfrm>
    </dsp:sp>
    <dsp:sp modelId="{64E60923-5ED9-43E4-9FA2-65EB3F22CB51}">
      <dsp:nvSpPr>
        <dsp:cNvPr id="0" name=""/>
        <dsp:cNvSpPr/>
      </dsp:nvSpPr>
      <dsp:spPr>
        <a:xfrm>
          <a:off x="3576012" y="16"/>
          <a:ext cx="568700" cy="568700"/>
        </a:xfrm>
        <a:prstGeom prst="ellipse">
          <a:avLst/>
        </a:prstGeom>
        <a:solidFill>
          <a:srgbClr val="ED6363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Metadaten-formate</a:t>
          </a:r>
          <a:endParaRPr lang="de-DE" sz="500" kern="1200" dirty="0"/>
        </a:p>
      </dsp:txBody>
      <dsp:txXfrm>
        <a:off x="3659296" y="83300"/>
        <a:ext cx="402132" cy="402132"/>
      </dsp:txXfrm>
    </dsp:sp>
    <dsp:sp modelId="{D8AC18BD-875D-4782-A68C-533ECF89F98E}">
      <dsp:nvSpPr>
        <dsp:cNvPr id="0" name=""/>
        <dsp:cNvSpPr/>
      </dsp:nvSpPr>
      <dsp:spPr>
        <a:xfrm>
          <a:off x="4446090" y="0"/>
          <a:ext cx="568700" cy="568700"/>
        </a:xfrm>
        <a:prstGeom prst="ellipse">
          <a:avLst/>
        </a:prstGeom>
        <a:solidFill>
          <a:srgbClr val="FFC0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101600">
            <a:srgbClr val="FFFF00">
              <a:alpha val="60000"/>
            </a:srgbClr>
          </a:glo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31297" tIns="6350" rIns="31297" bIns="635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500" kern="1200" dirty="0" smtClean="0"/>
            <a:t>Metadaten-analyse</a:t>
          </a:r>
          <a:endParaRPr lang="de-DE" sz="500" kern="1200" dirty="0"/>
        </a:p>
      </dsp:txBody>
      <dsp:txXfrm>
        <a:off x="4529374" y="83284"/>
        <a:ext cx="402132" cy="4021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6B60990-A456-4E15-8235-A772450F9E9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35798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070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818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0619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876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8434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02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684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0080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049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7149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6570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626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Übrigens gibt</a:t>
            </a:r>
            <a:r>
              <a:rPr lang="de-DE" baseline="0" dirty="0" smtClean="0"/>
              <a:t> es diesen Überblick über die Exportformate auch als PDF auf unserer Webseite.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77465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2018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678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4352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639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98040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0445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2828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1810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73163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B60990-A456-4E15-8235-A772450F9E97}" type="slidenum">
              <a:rPr lang="de-DE" smtClean="0"/>
              <a:pPr>
                <a:defRPr/>
              </a:pPr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818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dnb_RG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2088" y="216000"/>
            <a:ext cx="122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27088" y="2499742"/>
            <a:ext cx="7593012" cy="1296000"/>
          </a:xfrm>
        </p:spPr>
        <p:txBody>
          <a:bodyPr/>
          <a:lstStyle>
            <a:lvl1pPr>
              <a:lnSpc>
                <a:spcPts val="3600"/>
              </a:lnSpc>
              <a:defRPr sz="3200" b="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1946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827088" y="2042534"/>
            <a:ext cx="7593012" cy="385200"/>
          </a:xfrm>
        </p:spPr>
        <p:txBody>
          <a:bodyPr/>
          <a:lstStyle>
            <a:lvl1pPr marL="0" indent="0">
              <a:buFont typeface="Verdana" pitchFamily="34" charset="0"/>
              <a:buNone/>
              <a:defRPr sz="2000"/>
            </a:lvl1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>
            <a:spLocks noGrp="1"/>
          </p:cNvSpPr>
          <p:nvPr>
            <p:ph type="title"/>
          </p:nvPr>
        </p:nvSpPr>
        <p:spPr>
          <a:xfrm>
            <a:off x="827088" y="1218086"/>
            <a:ext cx="7593012" cy="777600"/>
          </a:xfrm>
        </p:spPr>
        <p:txBody>
          <a:bodyPr/>
          <a:lstStyle>
            <a:lvl1pPr>
              <a:lnSpc>
                <a:spcPts val="3000"/>
              </a:lnSpc>
              <a:defRPr b="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>
          <a:xfrm>
            <a:off x="827088" y="2016000"/>
            <a:ext cx="7593012" cy="2563200"/>
          </a:xfrm>
        </p:spPr>
        <p:txBody>
          <a:bodyPr/>
          <a:lstStyle>
            <a:lvl1pPr>
              <a:lnSpc>
                <a:spcPts val="3000"/>
              </a:lnSpc>
              <a:spcBef>
                <a:spcPts val="1680"/>
              </a:spcBef>
              <a:defRPr sz="2600" b="1"/>
            </a:lvl1pPr>
            <a:lvl2pPr marL="1076325" indent="-452438">
              <a:lnSpc>
                <a:spcPts val="2400"/>
              </a:lnSpc>
              <a:spcBef>
                <a:spcPts val="300"/>
              </a:spcBef>
              <a:defRPr sz="2000"/>
            </a:lvl2pPr>
            <a:lvl3pPr marL="1341438" indent="-265113">
              <a:lnSpc>
                <a:spcPts val="2400"/>
              </a:lnSpc>
              <a:spcBef>
                <a:spcPts val="300"/>
              </a:spcBef>
              <a:defRPr sz="2000"/>
            </a:lvl3pPr>
            <a:lvl4pPr marL="1600200" indent="-258763">
              <a:lnSpc>
                <a:spcPts val="2400"/>
              </a:lnSpc>
              <a:spcBef>
                <a:spcPts val="300"/>
              </a:spcBef>
              <a:defRPr sz="2000"/>
            </a:lvl4pPr>
            <a:lvl5pPr marL="1879600" indent="-265113">
              <a:lnSpc>
                <a:spcPts val="2400"/>
              </a:lnSpc>
              <a:spcBef>
                <a:spcPts val="300"/>
              </a:spcBef>
              <a:defRPr sz="2000"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680"/>
              </a:spcBef>
              <a:defRPr/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und zwei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27088" y="2024063"/>
            <a:ext cx="3719512" cy="2563416"/>
          </a:xfr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>
              <a:lnSpc>
                <a:spcPts val="2000"/>
              </a:lnSpc>
              <a:spcBef>
                <a:spcPts val="300"/>
              </a:spcBef>
              <a:defRPr sz="1600"/>
            </a:lvl2pPr>
            <a:lvl3pPr>
              <a:lnSpc>
                <a:spcPts val="2000"/>
              </a:lnSpc>
              <a:spcBef>
                <a:spcPts val="300"/>
              </a:spcBef>
              <a:defRPr sz="1600"/>
            </a:lvl3pPr>
            <a:lvl4pPr>
              <a:lnSpc>
                <a:spcPts val="2000"/>
              </a:lnSpc>
              <a:spcBef>
                <a:spcPts val="300"/>
              </a:spcBef>
              <a:defRPr sz="1600"/>
            </a:lvl4pPr>
            <a:lvl5pPr>
              <a:lnSpc>
                <a:spcPts val="2000"/>
              </a:lnSpc>
              <a:spcBef>
                <a:spcPts val="3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9000" y="2024063"/>
            <a:ext cx="3721100" cy="2563416"/>
          </a:xfrm>
        </p:spPr>
        <p:txBody>
          <a:bodyPr/>
          <a:lstStyle>
            <a:lvl1pPr>
              <a:spcBef>
                <a:spcPts val="1200"/>
              </a:spcBef>
              <a:defRPr lang="de-DE" sz="20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ts val="2000"/>
              </a:lnSpc>
              <a:spcBef>
                <a:spcPts val="300"/>
              </a:spcBef>
              <a:defRPr sz="1600"/>
            </a:lvl2pPr>
            <a:lvl3pPr>
              <a:lnSpc>
                <a:spcPts val="2000"/>
              </a:lnSpc>
              <a:spcBef>
                <a:spcPts val="300"/>
              </a:spcBef>
              <a:defRPr sz="1600"/>
            </a:lvl3pPr>
            <a:lvl4pPr>
              <a:lnSpc>
                <a:spcPts val="2000"/>
              </a:lnSpc>
              <a:spcBef>
                <a:spcPts val="300"/>
              </a:spcBef>
              <a:defRPr sz="1600"/>
            </a:lvl4pPr>
            <a:lvl5pPr>
              <a:lnSpc>
                <a:spcPts val="2000"/>
              </a:lnSpc>
              <a:spcBef>
                <a:spcPts val="300"/>
              </a:spcBef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_mit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>
                <a:solidFill>
                  <a:srgbClr val="808080"/>
                </a:solidFill>
              </a:rPr>
              <a:t>| Stephanie Nitsche | Arbeiten mit den Daten der DNB  |  02. Juni 2026  </a:t>
            </a:r>
            <a:endParaRPr lang="de-DE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73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827088" y="2024063"/>
            <a:ext cx="7593012" cy="2563416"/>
          </a:xfrm>
        </p:spPr>
        <p:txBody>
          <a:bodyPr/>
          <a:lstStyle>
            <a:lvl1pPr>
              <a:spcBef>
                <a:spcPts val="1680"/>
              </a:spcBef>
              <a:buNone/>
              <a:defRPr/>
            </a:lvl1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el und zwei Obje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ts val="3000"/>
              </a:lnSpc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27088" y="2024063"/>
            <a:ext cx="3719512" cy="2563416"/>
          </a:xfrm>
        </p:spPr>
        <p:txBody>
          <a:bodyPr/>
          <a:lstStyle>
            <a:lvl1pPr>
              <a:spcBef>
                <a:spcPts val="1200"/>
              </a:spcBef>
              <a:buNone/>
              <a:defRPr sz="20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9000" y="2024063"/>
            <a:ext cx="3721100" cy="2563416"/>
          </a:xfrm>
        </p:spPr>
        <p:txBody>
          <a:bodyPr/>
          <a:lstStyle>
            <a:lvl1pPr>
              <a:spcBef>
                <a:spcPts val="1200"/>
              </a:spcBef>
              <a:buNone/>
              <a:defRPr sz="2000"/>
            </a:lvl1pPr>
            <a:lvl2pPr>
              <a:lnSpc>
                <a:spcPts val="2000"/>
              </a:lnSpc>
              <a:defRPr sz="1600"/>
            </a:lvl2pPr>
            <a:lvl3pPr>
              <a:lnSpc>
                <a:spcPts val="2000"/>
              </a:lnSpc>
              <a:defRPr sz="1600"/>
            </a:lvl3pPr>
            <a:lvl4pPr>
              <a:lnSpc>
                <a:spcPts val="2000"/>
              </a:lnSpc>
              <a:defRPr sz="1600"/>
            </a:lvl4pPr>
            <a:lvl5pPr>
              <a:lnSpc>
                <a:spcPts val="2000"/>
              </a:lnSpc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9" descr="dnb_RGB"/>
          <p:cNvPicPr>
            <a:picLocks noChangeAspect="1" noChangeArrowheads="1"/>
          </p:cNvPicPr>
          <p:nvPr userDrawn="1"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812088" y="216000"/>
            <a:ext cx="122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827088" y="1080000"/>
            <a:ext cx="7593012" cy="77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Titelmasterformat durch Klicken bearbeiten</a:t>
            </a:r>
          </a:p>
        </p:txBody>
      </p:sp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7088" y="2016000"/>
            <a:ext cx="7593012" cy="256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4350" y="4788694"/>
            <a:ext cx="7874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 sz="1000"/>
            </a:lvl1pPr>
          </a:lstStyle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35" r:id="rId3"/>
    <p:sldLayoutId id="2147483736" r:id="rId4"/>
    <p:sldLayoutId id="2147483737" r:id="rId5"/>
    <p:sldLayoutId id="2147483738" r:id="rId6"/>
    <p:sldLayoutId id="2147483744" r:id="rId7"/>
    <p:sldLayoutId id="2147483739" r:id="rId8"/>
    <p:sldLayoutId id="2147483740" r:id="rId9"/>
  </p:sldLayoutIdLst>
  <p:hf hdr="0" dt="0"/>
  <p:txStyles>
    <p:titleStyle>
      <a:lvl1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eaLnBrk="1" fontAlgn="base" hangingPunct="1">
        <a:lnSpc>
          <a:spcPts val="3000"/>
        </a:lnSpc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lnSpc>
          <a:spcPts val="2400"/>
        </a:lnSpc>
        <a:spcBef>
          <a:spcPct val="70000"/>
        </a:spcBef>
        <a:spcAft>
          <a:spcPct val="0"/>
        </a:spcAft>
        <a:buFont typeface="Verdana" pitchFamily="34" charset="0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lnSpc>
          <a:spcPts val="20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nb.de/portra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nb.de/dnblab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lab@dnb.d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5.png"/><Relationship Id="rId7" Type="http://schemas.openxmlformats.org/officeDocument/2006/relationships/diagramLayout" Target="../diagrams/layou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3.xml"/><Relationship Id="rId5" Type="http://schemas.openxmlformats.org/officeDocument/2006/relationships/hyperlink" Target="https://portal.dnb.de/" TargetMode="External"/><Relationship Id="rId10" Type="http://schemas.microsoft.com/office/2007/relationships/diagramDrawing" Target="../diagrams/drawing3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7.png"/><Relationship Id="rId7" Type="http://schemas.openxmlformats.org/officeDocument/2006/relationships/diagramLayout" Target="../diagrams/layou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4.xml"/><Relationship Id="rId5" Type="http://schemas.openxmlformats.org/officeDocument/2006/relationships/hyperlink" Target="https://portal.dnb.de/" TargetMode="External"/><Relationship Id="rId10" Type="http://schemas.microsoft.com/office/2007/relationships/diagramDrawing" Target="../diagrams/drawing4.xml"/><Relationship Id="rId4" Type="http://schemas.openxmlformats.org/officeDocument/2006/relationships/image" Target="../media/image6.png"/><Relationship Id="rId9" Type="http://schemas.openxmlformats.org/officeDocument/2006/relationships/diagramColors" Target="../diagrams/colors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hyperlink" Target="https://www.dnb.de/metadatenbezugsweg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nb.de/sru" TargetMode="Externa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.dnb.de/sru/dnb?version=1.1&amp;operation=searchRetrieve&amp;query=comic&amp;recordSchema=MARC21-x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nb-sru-demo.streamlit.app/" TargetMode="Externa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utsche-nationalbibliothek/SRUQueryToo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17.pn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hyperlink" Target="https://www.dnb.de/dnblabtutorials" TargetMode="External"/><Relationship Id="rId9" Type="http://schemas.microsoft.com/office/2007/relationships/diagramDrawing" Target="../diagrams/drawing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ervices.dnb.de/sru/dnb?version=1.1&amp;operation=searchRetrieve&amp;query=1033661937&amp;recordSchema=MARC21-xml&amp;maximumRecords=100" TargetMode="External"/><Relationship Id="rId4" Type="http://schemas.openxmlformats.org/officeDocument/2006/relationships/hyperlink" Target="https://d-nb.info/gnd/1033823317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-nb.info/gnd/1089923899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ervices.dnb.de/sru/dnb?version=1.1&amp;operation=searchRetrieve&amp;query=982707010&amp;recordSchema=MARC21-xml&amp;maximumRecords=100" TargetMode="External"/><Relationship Id="rId5" Type="http://schemas.openxmlformats.org/officeDocument/2006/relationships/image" Target="../media/image19.jpg"/><Relationship Id="rId4" Type="http://schemas.openxmlformats.org/officeDocument/2006/relationships/hyperlink" Target="https://d-nb.info/982707010/04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.dnb.de/sru/dnb?version=1.1&amp;operation=searchRetrieve&amp;query=Adelige+Streitkultur&amp;recordSchema=MARC21-xml&amp;maximumRecords=100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nb.de/marc2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openxmlformats.org/officeDocument/2006/relationships/hyperlink" Target="https://www.dnb.de/dnblabtutorials" TargetMode="External"/><Relationship Id="rId4" Type="http://schemas.openxmlformats.org/officeDocument/2006/relationships/diagramLayout" Target="../diagrams/layout9.xml"/><Relationship Id="rId9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hyperlink" Target="http://www.dnb.de/dnblab" TargetMode="External"/><Relationship Id="rId7" Type="http://schemas.openxmlformats.org/officeDocument/2006/relationships/diagramQuickStyle" Target="../diagrams/quickStyle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hyperlink" Target="http://www.github.com/deutsche-nationalbibliothek/dnblab" TargetMode="External"/><Relationship Id="rId9" Type="http://schemas.microsoft.com/office/2007/relationships/diagramDrawing" Target="../diagrams/drawing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tinyurl.com/DNBLab-de" TargetMode="Externa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nb.de/dnblab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lab@dnb.de" TargetMode="External"/><Relationship Id="rId5" Type="http://schemas.openxmlformats.org/officeDocument/2006/relationships/hyperlink" Target="mailto:s.nitsche@dnb.de" TargetMode="External"/><Relationship Id="rId4" Type="http://schemas.openxmlformats.org/officeDocument/2006/relationships/hyperlink" Target="http://www.github.com/deutsche-nationalbibliothek/dnbla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87338" y="606"/>
            <a:ext cx="215900" cy="5140800"/>
          </a:xfrm>
          <a:prstGeom prst="rect">
            <a:avLst/>
          </a:prstGeom>
          <a:solidFill>
            <a:srgbClr val="0046C4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EBFEB206-4A3F-4696-935B-82AB82FC11DA}" type="slidenum">
              <a:rPr lang="de-DE" sz="1000" b="1"/>
              <a:pPr algn="ctr"/>
              <a:t>1</a:t>
            </a:fld>
            <a:endParaRPr lang="de-DE" sz="1000" b="1" dirty="0"/>
          </a:p>
        </p:txBody>
      </p:sp>
      <p:sp>
        <p:nvSpPr>
          <p:cNvPr id="307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827088" y="2499742"/>
            <a:ext cx="7993384" cy="1296000"/>
          </a:xfrm>
        </p:spPr>
        <p:txBody>
          <a:bodyPr/>
          <a:lstStyle/>
          <a:p>
            <a:r>
              <a:rPr lang="de-DE" sz="3600" b="1" dirty="0" smtClean="0"/>
              <a:t>Arbeiten mit den Daten der Deutschen Nationalbibliothek</a:t>
            </a:r>
            <a:r>
              <a:rPr lang="de-DE" sz="4000" b="1" dirty="0" smtClean="0"/>
              <a:t/>
            </a:r>
            <a:br>
              <a:rPr lang="de-DE" sz="4000" b="1" dirty="0" smtClean="0"/>
            </a:br>
            <a:endParaRPr lang="de-DE" sz="4000" dirty="0"/>
          </a:p>
        </p:txBody>
      </p:sp>
      <p:sp>
        <p:nvSpPr>
          <p:cNvPr id="3077" name="Rectangle 11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/>
          <a:lstStyle/>
          <a:p>
            <a:pPr>
              <a:spcBef>
                <a:spcPts val="0"/>
              </a:spcBef>
            </a:pPr>
            <a:r>
              <a:rPr lang="de-DE" dirty="0" smtClean="0"/>
              <a:t>Stephanie </a:t>
            </a:r>
            <a:r>
              <a:rPr lang="de-DE" dirty="0" smtClean="0"/>
              <a:t>Nitsche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ACCBE4A5-7891-4FEA-B3C8-49962E3BA3F1}" type="slidenum">
              <a:rPr lang="de-DE" sz="1000" b="1" smtClean="0"/>
              <a:t>2</a:t>
            </a:fld>
            <a:endParaRPr lang="de-DE" sz="1000" b="1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755577" y="1635646"/>
            <a:ext cx="6048672" cy="2754000"/>
          </a:xfrm>
        </p:spPr>
        <p:txBody>
          <a:bodyPr/>
          <a:lstStyle/>
          <a:p>
            <a:pPr>
              <a:buFont typeface="Verdana" panose="020B0604030504040204" pitchFamily="34" charset="0"/>
              <a:buChar char="|"/>
            </a:pPr>
            <a:r>
              <a:rPr lang="de-DE" dirty="0" smtClean="0"/>
              <a:t>Zwei </a:t>
            </a:r>
            <a:r>
              <a:rPr lang="de-DE" dirty="0"/>
              <a:t>Standorte – ein </a:t>
            </a:r>
            <a:r>
              <a:rPr lang="de-DE" dirty="0" smtClean="0"/>
              <a:t>(gesetzlicher) Auftrag: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dirty="0" smtClean="0"/>
              <a:t>Sammlung </a:t>
            </a:r>
            <a:r>
              <a:rPr lang="de-DE" dirty="0"/>
              <a:t>von Schrift, Bild und Ton seit 1913 in und über Deutschland oder in deutscher Sprache veröffentlichten Publikationen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dirty="0" smtClean="0"/>
              <a:t>Weitere Bestände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dirty="0"/>
              <a:t>Deutsches Exilarchiv 1933 - 1945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dirty="0"/>
              <a:t>Deutsches Buch- und Schriftmuseum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dirty="0"/>
              <a:t>Deutsches </a:t>
            </a:r>
            <a:r>
              <a:rPr lang="de-DE" dirty="0" smtClean="0"/>
              <a:t>Musikarchiv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1800" b="1" dirty="0">
                <a:hlinkClick r:id="rId3"/>
              </a:rPr>
              <a:t>dnb.de/</a:t>
            </a:r>
            <a:r>
              <a:rPr lang="de-DE" sz="1800" b="1" dirty="0" err="1">
                <a:hlinkClick r:id="rId3"/>
              </a:rPr>
              <a:t>portraet</a:t>
            </a:r>
            <a:r>
              <a:rPr lang="de-DE" dirty="0"/>
              <a:t> </a:t>
            </a:r>
          </a:p>
          <a:p>
            <a:pPr>
              <a:buFont typeface="Verdana" panose="020B0604030504040204" pitchFamily="34" charset="0"/>
              <a:buChar char="|"/>
            </a:pPr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755576" y="1085380"/>
            <a:ext cx="8460000" cy="777600"/>
          </a:xfrm>
        </p:spPr>
        <p:txBody>
          <a:bodyPr/>
          <a:lstStyle/>
          <a:p>
            <a:r>
              <a:rPr lang="de-DE" dirty="0" smtClean="0"/>
              <a:t>Die DNB</a:t>
            </a:r>
            <a:endParaRPr lang="de-DE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446" y="1398338"/>
            <a:ext cx="1929193" cy="126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948264" y="2661394"/>
            <a:ext cx="19333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Foto: Klaus-D. Sonntag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399" y="3243250"/>
            <a:ext cx="1941285" cy="1209809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6948263" y="4497766"/>
            <a:ext cx="1933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/>
              <a:t>Foto: Alexander Paul Englert, CC-BY-SA 3.0 DE</a:t>
            </a:r>
          </a:p>
        </p:txBody>
      </p:sp>
    </p:spTree>
    <p:extLst>
      <p:ext uri="{BB962C8B-B14F-4D97-AF65-F5344CB8AC3E}">
        <p14:creationId xmlns:p14="http://schemas.microsoft.com/office/powerpoint/2010/main" val="4096909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Überblick</a:t>
            </a:r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512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41DD5E45-7A98-4147-A7E0-A8DC2A41740A}" type="slidenum">
              <a:rPr lang="de-DE" sz="1000" b="1"/>
              <a:pPr algn="ctr"/>
              <a:t>3</a:t>
            </a:fld>
            <a:endParaRPr lang="de-DE" sz="1000" b="1" dirty="0"/>
          </a:p>
        </p:txBody>
      </p:sp>
      <p:sp>
        <p:nvSpPr>
          <p:cNvPr id="11" name="Inhaltsplatzhalter 8"/>
          <p:cNvSpPr txBox="1">
            <a:spLocks/>
          </p:cNvSpPr>
          <p:nvPr/>
        </p:nvSpPr>
        <p:spPr bwMode="auto">
          <a:xfrm>
            <a:off x="395288" y="1563638"/>
            <a:ext cx="8748712" cy="2563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ts val="2400"/>
              </a:lnSpc>
              <a:spcBef>
                <a:spcPts val="1680"/>
              </a:spcBef>
              <a:spcAft>
                <a:spcPct val="0"/>
              </a:spcAft>
              <a:buFont typeface="Verdana" pitchFamily="34" charset="0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ts val="2000"/>
              </a:lnSpc>
              <a:spcBef>
                <a:spcPts val="3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lnSpc>
                <a:spcPts val="2000"/>
              </a:lnSpc>
              <a:spcBef>
                <a:spcPts val="3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lnSpc>
                <a:spcPts val="2000"/>
              </a:lnSpc>
              <a:spcBef>
                <a:spcPts val="3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lnSpc>
                <a:spcPts val="2000"/>
              </a:lnSpc>
              <a:spcBef>
                <a:spcPts val="3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FontTx/>
              <a:buNone/>
            </a:pPr>
            <a:endParaRPr lang="de-DE" sz="300" kern="0" dirty="0" smtClean="0"/>
          </a:p>
          <a:p>
            <a:pPr marL="857250" lvl="1" indent="-342900">
              <a:lnSpc>
                <a:spcPct val="150000"/>
              </a:lnSpc>
              <a:buFont typeface="Verdana" panose="020B0604030504040204" pitchFamily="34" charset="0"/>
              <a:buChar char="│"/>
            </a:pPr>
            <a:r>
              <a:rPr lang="de-DE" sz="2000" kern="0" dirty="0" smtClean="0"/>
              <a:t>&gt; </a:t>
            </a:r>
            <a:r>
              <a:rPr lang="de-DE" sz="2000" kern="0" dirty="0"/>
              <a:t>33 Mio. bibliografische Datensätze (freie Metadaten)</a:t>
            </a:r>
          </a:p>
          <a:p>
            <a:pPr marL="857250" lvl="1" indent="-342900">
              <a:lnSpc>
                <a:spcPct val="150000"/>
              </a:lnSpc>
              <a:buFont typeface="Verdana" panose="020B0604030504040204" pitchFamily="34" charset="0"/>
              <a:buChar char="│"/>
            </a:pPr>
            <a:r>
              <a:rPr lang="de-DE" sz="2000" kern="0" dirty="0"/>
              <a:t>&gt; 53 Mio. Objekte</a:t>
            </a:r>
          </a:p>
          <a:p>
            <a:pPr marL="1257300" lvl="2" indent="-342900">
              <a:lnSpc>
                <a:spcPct val="150000"/>
              </a:lnSpc>
              <a:buFont typeface="Verdana" panose="020B0604030504040204" pitchFamily="34" charset="0"/>
              <a:buChar char="│"/>
            </a:pPr>
            <a:r>
              <a:rPr lang="de-DE" sz="2000" kern="0" dirty="0" smtClean="0"/>
              <a:t>&gt; </a:t>
            </a:r>
            <a:r>
              <a:rPr lang="de-DE" sz="2000" kern="0" dirty="0" smtClean="0"/>
              <a:t>20 </a:t>
            </a:r>
            <a:r>
              <a:rPr lang="de-DE" sz="2000" kern="0" dirty="0"/>
              <a:t>Mio. digital (Netzpublikationen)</a:t>
            </a:r>
          </a:p>
          <a:p>
            <a:pPr marL="1714500" lvl="3" indent="-342900">
              <a:lnSpc>
                <a:spcPct val="150000"/>
              </a:lnSpc>
              <a:buFont typeface="Verdana" panose="020B0604030504040204" pitchFamily="34" charset="0"/>
              <a:buChar char="│"/>
            </a:pPr>
            <a:r>
              <a:rPr lang="de-DE" sz="2000" kern="0" dirty="0"/>
              <a:t>&gt; 3 Mio. mit freiem </a:t>
            </a:r>
            <a:r>
              <a:rPr lang="de-DE" sz="2000" kern="0" dirty="0" smtClean="0"/>
              <a:t>Zugang</a:t>
            </a:r>
          </a:p>
          <a:p>
            <a:pPr marL="857250" lvl="1" indent="-342900">
              <a:lnSpc>
                <a:spcPct val="150000"/>
              </a:lnSpc>
              <a:buFont typeface="Verdana" panose="020B0604030504040204" pitchFamily="34" charset="0"/>
              <a:buChar char="│"/>
            </a:pPr>
            <a:r>
              <a:rPr lang="de-DE" sz="2000" kern="0" dirty="0" smtClean="0"/>
              <a:t>Ca. 5 Mio. digitalisierte Inhaltsverzeichnisse</a:t>
            </a:r>
            <a:endParaRPr lang="de-DE" sz="2000" kern="0" dirty="0"/>
          </a:p>
          <a:p>
            <a:pPr marL="0" indent="0">
              <a:buNone/>
            </a:pPr>
            <a:endParaRPr lang="de-DE" kern="0" dirty="0"/>
          </a:p>
          <a:p>
            <a:pPr marL="0" indent="0">
              <a:buNone/>
            </a:pPr>
            <a:endParaRPr lang="de-DE" kern="0" dirty="0"/>
          </a:p>
        </p:txBody>
      </p:sp>
    </p:spTree>
    <p:extLst>
      <p:ext uri="{BB962C8B-B14F-4D97-AF65-F5344CB8AC3E}">
        <p14:creationId xmlns:p14="http://schemas.microsoft.com/office/powerpoint/2010/main" val="3899860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3478"/>
            <a:ext cx="7684940" cy="5123933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3518962" y="3363838"/>
            <a:ext cx="5112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smtClean="0">
                <a:solidFill>
                  <a:srgbClr val="C00000"/>
                </a:solidFill>
              </a:rPr>
              <a:t>&gt; 3 Millionen frei verfügbar</a:t>
            </a:r>
            <a:endParaRPr lang="de-DE" sz="2400" b="1" dirty="0">
              <a:solidFill>
                <a:srgbClr val="C00000"/>
              </a:solidFill>
            </a:endParaRP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937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AA07132C-623B-4934-A108-D9C29AFAB044}" type="slidenum">
              <a:rPr lang="de-DE" sz="1000" b="1" smtClean="0"/>
              <a:t>5</a:t>
            </a:fld>
            <a:endParaRPr lang="de-DE" sz="1000" b="1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827584" y="1779662"/>
            <a:ext cx="7920880" cy="2754000"/>
          </a:xfrm>
        </p:spPr>
        <p:txBody>
          <a:bodyPr/>
          <a:lstStyle/>
          <a:p>
            <a:pPr>
              <a:lnSpc>
                <a:spcPts val="2000"/>
              </a:lnSpc>
              <a:buFont typeface="Verdana" panose="020B0604030504040204" pitchFamily="34" charset="0"/>
              <a:buChar char="|"/>
            </a:pPr>
            <a:r>
              <a:rPr lang="de-DE" dirty="0" smtClean="0">
                <a:hlinkClick r:id="rId2"/>
              </a:rPr>
              <a:t>www.dnb.de/dnblab</a:t>
            </a:r>
            <a:r>
              <a:rPr lang="de-DE" dirty="0" smtClean="0"/>
              <a:t>  </a:t>
            </a:r>
            <a:endParaRPr lang="de-DE" dirty="0"/>
          </a:p>
          <a:p>
            <a:pPr>
              <a:lnSpc>
                <a:spcPts val="2000"/>
              </a:lnSpc>
              <a:buFont typeface="Verdana" panose="020B0604030504040204" pitchFamily="34" charset="0"/>
              <a:buChar char="|"/>
            </a:pPr>
            <a:r>
              <a:rPr lang="de-DE" dirty="0" smtClean="0"/>
              <a:t>Bibliothekslab </a:t>
            </a:r>
            <a:r>
              <a:rPr lang="de-DE" dirty="0"/>
              <a:t>der Deutschen Nationalbibliothek</a:t>
            </a:r>
          </a:p>
          <a:p>
            <a:pPr>
              <a:lnSpc>
                <a:spcPts val="2000"/>
              </a:lnSpc>
              <a:buFont typeface="Verdana" panose="020B0604030504040204" pitchFamily="34" charset="0"/>
              <a:buChar char="|"/>
            </a:pPr>
            <a:r>
              <a:rPr lang="de-DE" dirty="0"/>
              <a:t>Start im Sommer 2020</a:t>
            </a:r>
          </a:p>
          <a:p>
            <a:pPr>
              <a:lnSpc>
                <a:spcPts val="2000"/>
              </a:lnSpc>
              <a:buFont typeface="Verdana" panose="020B0604030504040204" pitchFamily="34" charset="0"/>
              <a:buChar char="|"/>
            </a:pPr>
            <a:r>
              <a:rPr lang="de-DE" dirty="0"/>
              <a:t>Zentraler Anlaufpunkt für alle mit Interesse an Text- u</a:t>
            </a:r>
            <a:r>
              <a:rPr lang="de-DE" dirty="0" smtClean="0"/>
              <a:t>nd </a:t>
            </a:r>
            <a:r>
              <a:rPr lang="de-DE" dirty="0"/>
              <a:t>Data </a:t>
            </a:r>
            <a:r>
              <a:rPr lang="de-DE" dirty="0" smtClean="0"/>
              <a:t>Mining</a:t>
            </a:r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827584" y="1091476"/>
            <a:ext cx="8460000" cy="777600"/>
          </a:xfrm>
        </p:spPr>
        <p:txBody>
          <a:bodyPr/>
          <a:lstStyle/>
          <a:p>
            <a:r>
              <a:rPr lang="de-DE" dirty="0" err="1" smtClean="0"/>
              <a:t>DNBLab</a:t>
            </a:r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2" name="Textfeld 1"/>
          <p:cNvSpPr txBox="1"/>
          <p:nvPr/>
        </p:nvSpPr>
        <p:spPr>
          <a:xfrm>
            <a:off x="3095836" y="508567"/>
            <a:ext cx="417646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 smtClean="0"/>
              <a:t>Physischer oder virtueller Raum, den eine Bibliothek ihren </a:t>
            </a:r>
            <a:r>
              <a:rPr lang="de-DE" sz="1100" dirty="0" err="1" smtClean="0"/>
              <a:t>Nuzter</a:t>
            </a:r>
            <a:r>
              <a:rPr lang="de-DE" sz="1100" dirty="0" smtClean="0"/>
              <a:t>*innen zum Arbeiten und Experimentieren außerhalb ihrer üblichen Medienbereitstellung zur Verfügung stellt. Beinhaltet häufig auch Lehr- und Lernangebote, Tutorials etc.  </a:t>
            </a:r>
            <a:endParaRPr lang="de-DE" sz="1100" dirty="0"/>
          </a:p>
        </p:txBody>
      </p:sp>
      <p:sp>
        <p:nvSpPr>
          <p:cNvPr id="3" name="Ellipse 2"/>
          <p:cNvSpPr/>
          <p:nvPr/>
        </p:nvSpPr>
        <p:spPr>
          <a:xfrm>
            <a:off x="2843808" y="267494"/>
            <a:ext cx="4680520" cy="125713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1115616" y="2163946"/>
            <a:ext cx="1872208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6286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8083DFBD-A125-40FA-B69E-2368F5586ABC}" type="slidenum">
              <a:rPr lang="de-DE" sz="1000" b="1" smtClean="0"/>
              <a:t>6</a:t>
            </a:fld>
            <a:endParaRPr lang="de-DE" sz="1000" b="1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755576" y="1707654"/>
            <a:ext cx="8460000" cy="27540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/>
              <a:t>freie digitale Objektsammlungen</a:t>
            </a:r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/>
              <a:t>Beschreibungen unserer Datenformate und Schnittstellen</a:t>
            </a:r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 smtClean="0"/>
              <a:t>Online-</a:t>
            </a:r>
            <a:r>
              <a:rPr lang="de-DE" sz="1600" dirty="0" err="1" smtClean="0"/>
              <a:t>Coding</a:t>
            </a:r>
            <a:r>
              <a:rPr lang="de-DE" sz="1600" dirty="0" smtClean="0"/>
              <a:t>-Tutorials, </a:t>
            </a:r>
            <a:r>
              <a:rPr lang="de-DE" sz="1600" dirty="0" err="1" smtClean="0"/>
              <a:t>Erklärvideos</a:t>
            </a:r>
            <a:r>
              <a:rPr lang="de-DE" sz="1600" dirty="0" smtClean="0"/>
              <a:t>, Handouts</a:t>
            </a:r>
            <a:endParaRPr lang="de-DE" sz="1600" dirty="0"/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 smtClean="0"/>
              <a:t>Praxisbeispiele</a:t>
            </a:r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 smtClean="0"/>
              <a:t>Eigene Anwendungen </a:t>
            </a:r>
          </a:p>
          <a:p>
            <a:pPr lvl="0"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/>
              <a:t>Einführungsveranstaltungen, Workshops und Lehrkooperationen </a:t>
            </a:r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 smtClean="0"/>
              <a:t>zentrale </a:t>
            </a:r>
            <a:r>
              <a:rPr lang="de-DE" sz="1600" dirty="0"/>
              <a:t>Ansprechpartner*innen </a:t>
            </a:r>
            <a:r>
              <a:rPr lang="de-DE" sz="1600" dirty="0">
                <a:hlinkClick r:id="rId3"/>
              </a:rPr>
              <a:t>lab@dnb.de</a:t>
            </a:r>
            <a:r>
              <a:rPr lang="de-DE" sz="1600" dirty="0"/>
              <a:t> </a:t>
            </a:r>
            <a:endParaRPr lang="de-DE" sz="1600" dirty="0" smtClean="0"/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r>
              <a:rPr lang="de-DE" sz="1600" dirty="0"/>
              <a:t>Netzwerktreffen Bibliotheks-Labs </a:t>
            </a:r>
          </a:p>
          <a:p>
            <a:pPr>
              <a:spcBef>
                <a:spcPts val="0"/>
              </a:spcBef>
              <a:spcAft>
                <a:spcPts val="200"/>
              </a:spcAft>
              <a:buFont typeface="Verdana" panose="020B0604030504040204" pitchFamily="34" charset="0"/>
              <a:buChar char="|"/>
            </a:pPr>
            <a:endParaRPr lang="de-DE" sz="1600" dirty="0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755576" y="1085380"/>
            <a:ext cx="8460000" cy="777600"/>
          </a:xfrm>
        </p:spPr>
        <p:txBody>
          <a:bodyPr/>
          <a:lstStyle/>
          <a:p>
            <a:r>
              <a:rPr lang="de-DE" dirty="0" err="1" smtClean="0"/>
              <a:t>DNBLab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803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AD49D738-8205-4548-A1D4-0D89A358A4CE}" type="slidenum">
              <a:rPr lang="de-DE" sz="1000" b="1" smtClean="0"/>
              <a:t>7</a:t>
            </a:fld>
            <a:endParaRPr lang="de-DE" sz="1000" b="1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8" name="Titel 2"/>
          <p:cNvSpPr txBox="1">
            <a:spLocks/>
          </p:cNvSpPr>
          <p:nvPr/>
        </p:nvSpPr>
        <p:spPr>
          <a:xfrm>
            <a:off x="827088" y="1080000"/>
            <a:ext cx="8065392" cy="7776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de-DE" sz="2800" dirty="0" smtClean="0"/>
              <a:t>HEUTE </a:t>
            </a:r>
            <a:endParaRPr lang="de-DE" sz="2800" dirty="0"/>
          </a:p>
        </p:txBody>
      </p:sp>
      <p:sp>
        <p:nvSpPr>
          <p:cNvPr id="7" name="Inhaltsplatzhalter 5"/>
          <p:cNvSpPr>
            <a:spLocks noGrp="1"/>
          </p:cNvSpPr>
          <p:nvPr>
            <p:ph idx="1"/>
          </p:nvPr>
        </p:nvSpPr>
        <p:spPr>
          <a:xfrm>
            <a:off x="936625" y="1779588"/>
            <a:ext cx="7307783" cy="2754312"/>
          </a:xfrm>
        </p:spPr>
        <p:txBody>
          <a:bodyPr/>
          <a:lstStyle/>
          <a:p>
            <a:pPr marL="0" indent="0">
              <a:buNone/>
            </a:pPr>
            <a:r>
              <a:rPr lang="de-DE" dirty="0" smtClean="0"/>
              <a:t>Wir wollen versuchen, uns einen Überblick über den gesamten Comicbestand der DNB zu verschaffen.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046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59919840-584C-41F3-8B19-AA1DE403F7BF}" type="slidenum">
              <a:rPr lang="de-DE" sz="1000" b="1" smtClean="0"/>
              <a:t>8</a:t>
            </a:fld>
            <a:endParaRPr lang="de-DE" sz="1000" b="1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755576" y="1085380"/>
            <a:ext cx="8460000" cy="777600"/>
          </a:xfrm>
        </p:spPr>
        <p:txBody>
          <a:bodyPr/>
          <a:lstStyle/>
          <a:p>
            <a:r>
              <a:rPr lang="de-DE" dirty="0" smtClean="0"/>
              <a:t>Aufgaben</a:t>
            </a:r>
            <a:endParaRPr lang="de-DE" dirty="0"/>
          </a:p>
        </p:txBody>
      </p:sp>
      <p:graphicFrame>
        <p:nvGraphicFramePr>
          <p:cNvPr id="2" name="Diagramm 1"/>
          <p:cNvGraphicFramePr/>
          <p:nvPr>
            <p:extLst>
              <p:ext uri="{D42A27DB-BD31-4B8C-83A1-F6EECF244321}">
                <p14:modId xmlns:p14="http://schemas.microsoft.com/office/powerpoint/2010/main" val="2879813621"/>
              </p:ext>
            </p:extLst>
          </p:nvPr>
        </p:nvGraphicFramePr>
        <p:xfrm>
          <a:off x="755576" y="1707654"/>
          <a:ext cx="8136904" cy="122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Diagramm 10"/>
          <p:cNvGraphicFramePr/>
          <p:nvPr>
            <p:extLst>
              <p:ext uri="{D42A27DB-BD31-4B8C-83A1-F6EECF244321}">
                <p14:modId xmlns:p14="http://schemas.microsoft.com/office/powerpoint/2010/main" val="229542834"/>
              </p:ext>
            </p:extLst>
          </p:nvPr>
        </p:nvGraphicFramePr>
        <p:xfrm>
          <a:off x="755576" y="2737507"/>
          <a:ext cx="8136904" cy="1224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4" name="Gerade Verbindung mit Pfeil 3"/>
          <p:cNvCxnSpPr/>
          <p:nvPr/>
        </p:nvCxnSpPr>
        <p:spPr>
          <a:xfrm>
            <a:off x="2483768" y="2319722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>
            <a:off x="4337504" y="2328044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Gerade Verbindung mit Pfeil 12"/>
          <p:cNvCxnSpPr/>
          <p:nvPr/>
        </p:nvCxnSpPr>
        <p:spPr>
          <a:xfrm flipV="1">
            <a:off x="6228184" y="2304616"/>
            <a:ext cx="648072" cy="23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72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Graphic spid="11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66" y="2704140"/>
            <a:ext cx="7045771" cy="160672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4"/>
          <a:srcRect t="1" b="79147"/>
          <a:stretch/>
        </p:blipFill>
        <p:spPr>
          <a:xfrm>
            <a:off x="868296" y="2264227"/>
            <a:ext cx="7143750" cy="462783"/>
          </a:xfrm>
          <a:prstGeom prst="rect">
            <a:avLst/>
          </a:prstGeom>
        </p:spPr>
      </p:pic>
      <p:sp>
        <p:nvSpPr>
          <p:cNvPr id="11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8" name="Titel 3"/>
          <p:cNvSpPr>
            <a:spLocks noGrp="1"/>
          </p:cNvSpPr>
          <p:nvPr>
            <p:ph type="title" idx="4294967295"/>
          </p:nvPr>
        </p:nvSpPr>
        <p:spPr>
          <a:xfrm>
            <a:off x="910605" y="967879"/>
            <a:ext cx="6345238" cy="582612"/>
          </a:xfrm>
        </p:spPr>
        <p:txBody>
          <a:bodyPr/>
          <a:lstStyle/>
          <a:p>
            <a:r>
              <a:rPr lang="de-DE" dirty="0"/>
              <a:t>Suchen im Katalog</a:t>
            </a:r>
            <a:endParaRPr lang="de-DE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9</a:t>
            </a:r>
            <a:endParaRPr lang="de-DE" sz="1000" b="1" dirty="0"/>
          </a:p>
        </p:txBody>
      </p:sp>
      <p:sp>
        <p:nvSpPr>
          <p:cNvPr id="12" name="Titel 3"/>
          <p:cNvSpPr txBox="1">
            <a:spLocks/>
          </p:cNvSpPr>
          <p:nvPr/>
        </p:nvSpPr>
        <p:spPr bwMode="auto">
          <a:xfrm>
            <a:off x="3055565" y="1731553"/>
            <a:ext cx="6345238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de-DE" kern="0" dirty="0" smtClean="0">
                <a:hlinkClick r:id="rId5"/>
              </a:rPr>
              <a:t>portal.dnb.de/</a:t>
            </a:r>
            <a:r>
              <a:rPr lang="de-DE" kern="0" dirty="0" smtClean="0"/>
              <a:t> </a:t>
            </a:r>
            <a:endParaRPr lang="de-DE" kern="0" dirty="0"/>
          </a:p>
        </p:txBody>
      </p:sp>
      <p:sp>
        <p:nvSpPr>
          <p:cNvPr id="14" name="Explosion 1 13"/>
          <p:cNvSpPr/>
          <p:nvPr/>
        </p:nvSpPr>
        <p:spPr>
          <a:xfrm>
            <a:off x="8172400" y="4371950"/>
            <a:ext cx="576064" cy="570632"/>
          </a:xfrm>
          <a:prstGeom prst="irregularSeal1">
            <a:avLst/>
          </a:prstGeom>
          <a:solidFill>
            <a:srgbClr val="FFC00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15" name="Diagramm 14"/>
          <p:cNvGraphicFramePr/>
          <p:nvPr>
            <p:extLst>
              <p:ext uri="{D42A27DB-BD31-4B8C-83A1-F6EECF244321}">
                <p14:modId xmlns:p14="http://schemas.microsoft.com/office/powerpoint/2010/main" val="1312613081"/>
              </p:ext>
            </p:extLst>
          </p:nvPr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38479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52" y="2716763"/>
            <a:ext cx="7103310" cy="158384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4"/>
          <a:srcRect t="1" b="79147"/>
          <a:stretch/>
        </p:blipFill>
        <p:spPr>
          <a:xfrm>
            <a:off x="868296" y="2264227"/>
            <a:ext cx="7143750" cy="462783"/>
          </a:xfrm>
          <a:prstGeom prst="rect">
            <a:avLst/>
          </a:prstGeom>
        </p:spPr>
      </p:pic>
      <p:sp>
        <p:nvSpPr>
          <p:cNvPr id="11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8" name="Titel 3"/>
          <p:cNvSpPr>
            <a:spLocks noGrp="1"/>
          </p:cNvSpPr>
          <p:nvPr>
            <p:ph type="title" idx="4294967295"/>
          </p:nvPr>
        </p:nvSpPr>
        <p:spPr>
          <a:xfrm>
            <a:off x="910605" y="967879"/>
            <a:ext cx="6345238" cy="582612"/>
          </a:xfrm>
        </p:spPr>
        <p:txBody>
          <a:bodyPr/>
          <a:lstStyle/>
          <a:p>
            <a:r>
              <a:rPr lang="de-DE" dirty="0"/>
              <a:t>Suchen im Katalog</a:t>
            </a:r>
            <a:endParaRPr lang="de-DE" dirty="0"/>
          </a:p>
        </p:txBody>
      </p:sp>
      <p:sp>
        <p:nvSpPr>
          <p:cNvPr id="5" name="Ellipse 4"/>
          <p:cNvSpPr/>
          <p:nvPr/>
        </p:nvSpPr>
        <p:spPr>
          <a:xfrm>
            <a:off x="923851" y="3682982"/>
            <a:ext cx="1919957" cy="30603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6012160" y="3657750"/>
            <a:ext cx="288032" cy="34203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10</a:t>
            </a:r>
            <a:endParaRPr lang="de-DE" sz="1000" b="1" dirty="0"/>
          </a:p>
        </p:txBody>
      </p:sp>
      <p:sp>
        <p:nvSpPr>
          <p:cNvPr id="10" name="Ellipse 9"/>
          <p:cNvSpPr/>
          <p:nvPr/>
        </p:nvSpPr>
        <p:spPr>
          <a:xfrm>
            <a:off x="7308304" y="3664980"/>
            <a:ext cx="360040" cy="342038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itel 3"/>
          <p:cNvSpPr txBox="1">
            <a:spLocks/>
          </p:cNvSpPr>
          <p:nvPr/>
        </p:nvSpPr>
        <p:spPr bwMode="auto">
          <a:xfrm>
            <a:off x="3055565" y="1731553"/>
            <a:ext cx="6345238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de-DE" kern="0" dirty="0" smtClean="0">
                <a:hlinkClick r:id="rId5"/>
              </a:rPr>
              <a:t>portal.dnb.de/</a:t>
            </a:r>
            <a:r>
              <a:rPr lang="de-DE" kern="0" dirty="0" smtClean="0"/>
              <a:t> </a:t>
            </a:r>
            <a:endParaRPr lang="de-DE" kern="0" dirty="0"/>
          </a:p>
        </p:txBody>
      </p:sp>
      <p:graphicFrame>
        <p:nvGraphicFramePr>
          <p:cNvPr id="14" name="Diagramm 13"/>
          <p:cNvGraphicFramePr/>
          <p:nvPr>
            <p:extLst>
              <p:ext uri="{D42A27DB-BD31-4B8C-83A1-F6EECF244321}">
                <p14:modId xmlns:p14="http://schemas.microsoft.com/office/powerpoint/2010/main" val="3272690249"/>
              </p:ext>
            </p:extLst>
          </p:nvPr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7284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FB863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11</a:t>
            </a:r>
            <a:endParaRPr lang="de-DE" sz="1000" b="1" dirty="0"/>
          </a:p>
        </p:txBody>
      </p:sp>
      <p:sp>
        <p:nvSpPr>
          <p:cNvPr id="4" name="Titel 3"/>
          <p:cNvSpPr txBox="1">
            <a:spLocks/>
          </p:cNvSpPr>
          <p:nvPr/>
        </p:nvSpPr>
        <p:spPr bwMode="auto">
          <a:xfrm>
            <a:off x="910605" y="967879"/>
            <a:ext cx="6345238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de-DE" kern="0" dirty="0" smtClean="0"/>
              <a:t>Bezug von Metadaten</a:t>
            </a:r>
            <a:endParaRPr lang="de-DE" kern="0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2547407341"/>
              </p:ext>
            </p:extLst>
          </p:nvPr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Grafi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760" y="1347614"/>
            <a:ext cx="4075245" cy="2896741"/>
          </a:xfrm>
          <a:prstGeom prst="rect">
            <a:avLst/>
          </a:prstGeom>
        </p:spPr>
      </p:pic>
      <p:sp>
        <p:nvSpPr>
          <p:cNvPr id="10" name="Titel 1"/>
          <p:cNvSpPr txBox="1">
            <a:spLocks/>
          </p:cNvSpPr>
          <p:nvPr/>
        </p:nvSpPr>
        <p:spPr bwMode="auto">
          <a:xfrm>
            <a:off x="2411760" y="4155926"/>
            <a:ext cx="498323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de-DE" sz="1800" kern="0" dirty="0" smtClean="0">
                <a:hlinkClick r:id="rId9"/>
              </a:rPr>
              <a:t>dnb.de/</a:t>
            </a:r>
            <a:r>
              <a:rPr lang="de-DE" sz="1800" kern="0" dirty="0" err="1" smtClean="0">
                <a:hlinkClick r:id="rId9"/>
              </a:rPr>
              <a:t>metadatenbezugswege</a:t>
            </a:r>
            <a:r>
              <a:rPr lang="de-DE" kern="0" dirty="0" smtClean="0"/>
              <a:t/>
            </a:r>
            <a:br>
              <a:rPr lang="de-DE" kern="0" dirty="0" smtClean="0"/>
            </a:br>
            <a:endParaRPr lang="de-DE" kern="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>
                <a:solidFill>
                  <a:srgbClr val="808080"/>
                </a:solidFill>
              </a:rPr>
              <a:t>| Stephanie Nitsche | Arbeiten mit den Daten der DNB  |  02. Juni 2026  </a:t>
            </a:r>
            <a:endParaRPr lang="de-DE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55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755576" y="1203598"/>
            <a:ext cx="8460000" cy="777600"/>
          </a:xfrm>
        </p:spPr>
        <p:txBody>
          <a:bodyPr/>
          <a:lstStyle/>
          <a:p>
            <a:r>
              <a:rPr lang="de-DE" dirty="0"/>
              <a:t>SRU </a:t>
            </a:r>
            <a:r>
              <a:rPr lang="de-DE" dirty="0" smtClean="0"/>
              <a:t> </a:t>
            </a:r>
            <a:r>
              <a:rPr lang="de-DE" sz="2400" dirty="0" smtClean="0">
                <a:hlinkClick r:id="rId2"/>
              </a:rPr>
              <a:t>dnb.de/</a:t>
            </a:r>
            <a:r>
              <a:rPr lang="de-DE" sz="2400" dirty="0" err="1" smtClean="0">
                <a:hlinkClick r:id="rId2"/>
              </a:rPr>
              <a:t>sru</a:t>
            </a:r>
            <a:endParaRPr lang="de-DE" sz="2400" dirty="0"/>
          </a:p>
        </p:txBody>
      </p:sp>
      <p:graphicFrame>
        <p:nvGraphicFramePr>
          <p:cNvPr id="9" name="Inhaltsplatzhalter 5"/>
          <p:cNvGraphicFramePr>
            <a:graphicFrameLocks noGrp="1"/>
          </p:cNvGraphicFramePr>
          <p:nvPr>
            <p:ph idx="1"/>
            <p:extLst/>
          </p:nvPr>
        </p:nvGraphicFramePr>
        <p:xfrm>
          <a:off x="755576" y="1900434"/>
          <a:ext cx="7966273" cy="2042160"/>
        </p:xfrm>
        <a:graphic>
          <a:graphicData uri="http://schemas.openxmlformats.org/drawingml/2006/table">
            <a:tbl>
              <a:tblPr bandRow="1">
                <a:tableStyleId>{6E25E649-3F16-4E02-A733-19D2CDBF48F0}</a:tableStyleId>
              </a:tblPr>
              <a:tblGrid>
                <a:gridCol w="2201170">
                  <a:extLst>
                    <a:ext uri="{9D8B030D-6E8A-4147-A177-3AD203B41FA5}">
                      <a16:colId xmlns:a16="http://schemas.microsoft.com/office/drawing/2014/main" val="1331179285"/>
                    </a:ext>
                  </a:extLst>
                </a:gridCol>
                <a:gridCol w="541783">
                  <a:extLst>
                    <a:ext uri="{9D8B030D-6E8A-4147-A177-3AD203B41FA5}">
                      <a16:colId xmlns:a16="http://schemas.microsoft.com/office/drawing/2014/main" val="1784674424"/>
                    </a:ext>
                  </a:extLst>
                </a:gridCol>
                <a:gridCol w="1235973">
                  <a:extLst>
                    <a:ext uri="{9D8B030D-6E8A-4147-A177-3AD203B41FA5}">
                      <a16:colId xmlns:a16="http://schemas.microsoft.com/office/drawing/2014/main" val="1059948201"/>
                    </a:ext>
                  </a:extLst>
                </a:gridCol>
                <a:gridCol w="1210472">
                  <a:extLst>
                    <a:ext uri="{9D8B030D-6E8A-4147-A177-3AD203B41FA5}">
                      <a16:colId xmlns:a16="http://schemas.microsoft.com/office/drawing/2014/main" val="694784532"/>
                    </a:ext>
                  </a:extLst>
                </a:gridCol>
                <a:gridCol w="2776875">
                  <a:extLst>
                    <a:ext uri="{9D8B030D-6E8A-4147-A177-3AD203B41FA5}">
                      <a16:colId xmlns:a16="http://schemas.microsoft.com/office/drawing/2014/main" val="1966794142"/>
                    </a:ext>
                  </a:extLst>
                </a:gridCol>
              </a:tblGrid>
              <a:tr h="527407">
                <a:tc>
                  <a:txBody>
                    <a:bodyPr/>
                    <a:lstStyle/>
                    <a:p>
                      <a:r>
                        <a:rPr lang="de-DE" dirty="0" smtClean="0"/>
                        <a:t>Technische Voraussetzungen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800" b="1" baseline="0" dirty="0" smtClean="0">
                          <a:solidFill>
                            <a:srgbClr val="FFC000"/>
                          </a:solidFill>
                          <a:sym typeface="Wingdings" panose="05000000000000000000" pitchFamily="2" charset="2"/>
                        </a:rPr>
                        <a:t></a:t>
                      </a:r>
                      <a:endParaRPr lang="de-DE" sz="1600" baseline="0" dirty="0" smtClean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de-DE" sz="1600" dirty="0" smtClean="0"/>
                        <a:t>Über Browser oder eingebunden in eigene Anwendung</a:t>
                      </a:r>
                      <a:endParaRPr lang="de-DE" sz="1600" baseline="0" dirty="0" smtClean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015575"/>
                  </a:ext>
                </a:extLst>
              </a:tr>
              <a:tr h="301375">
                <a:tc>
                  <a:txBody>
                    <a:bodyPr/>
                    <a:lstStyle/>
                    <a:p>
                      <a:r>
                        <a:rPr lang="de-DE" dirty="0" smtClean="0"/>
                        <a:t>Format</a:t>
                      </a:r>
                      <a:endParaRPr lang="de-DE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de-DE" dirty="0" smtClean="0"/>
                        <a:t>oai_dc, </a:t>
                      </a:r>
                      <a:r>
                        <a:rPr lang="de-DE" altLang="de-DE" dirty="0" smtClean="0"/>
                        <a:t>MARC21-xml, RDF, METS/MODS</a:t>
                      </a:r>
                      <a:r>
                        <a:rPr kumimoji="0" lang="de-DE" altLang="de-DE" sz="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, </a:t>
                      </a:r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40141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de-DE" dirty="0" smtClean="0"/>
                        <a:t>vollständig</a:t>
                      </a:r>
                      <a:endParaRPr lang="de-D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DE" sz="2800" b="1" dirty="0" smtClean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</a:t>
                      </a:r>
                      <a:r>
                        <a:rPr lang="de-DE" sz="2800" b="1" strike="noStrike" dirty="0" smtClean="0">
                          <a:solidFill>
                            <a:srgbClr val="FFC000"/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endParaRPr lang="de-DE" sz="2800" b="1" strike="noStrike" dirty="0" smtClean="0">
                        <a:solidFill>
                          <a:srgbClr val="00B050"/>
                        </a:solidFill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selektiv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800" b="1" strike="noStrike" dirty="0" smtClean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de-DE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263509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de-DE" dirty="0" smtClean="0"/>
                        <a:t>einmalig</a:t>
                      </a:r>
                      <a:endParaRPr lang="de-D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de-DE" sz="2800" b="1" strike="noStrike" dirty="0" smtClean="0">
                          <a:solidFill>
                            <a:srgbClr val="00B050"/>
                          </a:solidFill>
                          <a:sym typeface="Wingdings" panose="05000000000000000000" pitchFamily="2" charset="2"/>
                        </a:rPr>
                        <a:t></a:t>
                      </a:r>
                      <a:endParaRPr lang="de-DE" sz="2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laufend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800" b="1" strike="noStrike" dirty="0" smtClean="0">
                          <a:solidFill>
                            <a:srgbClr val="FFC000"/>
                          </a:solidFill>
                          <a:sym typeface="Wingdings" panose="05000000000000000000" pitchFamily="2" charset="2"/>
                        </a:rPr>
                        <a:t></a:t>
                      </a:r>
                      <a:r>
                        <a:rPr lang="de-DE" sz="2800" b="1" dirty="0" smtClean="0">
                          <a:solidFill>
                            <a:srgbClr val="FFC000"/>
                          </a:solidFill>
                          <a:sym typeface="Wingdings" panose="05000000000000000000" pitchFamily="2" charset="2"/>
                        </a:rPr>
                        <a:t> </a:t>
                      </a:r>
                      <a:endParaRPr lang="de-DE" sz="1600" dirty="0" smtClean="0">
                        <a:solidFill>
                          <a:schemeClr val="tx1"/>
                        </a:solidFill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431848"/>
                  </a:ext>
                </a:extLst>
              </a:tr>
            </a:tbl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12</a:t>
            </a:r>
            <a:endParaRPr lang="de-DE" sz="1000" b="1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845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A4B90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13</a:t>
            </a:r>
            <a:endParaRPr lang="de-DE" sz="1000" b="1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" name="Grafik 9"/>
          <p:cNvPicPr/>
          <p:nvPr/>
        </p:nvPicPr>
        <p:blipFill>
          <a:blip r:embed="rId2"/>
          <a:stretch>
            <a:fillRect/>
          </a:stretch>
        </p:blipFill>
        <p:spPr>
          <a:xfrm>
            <a:off x="683568" y="63189"/>
            <a:ext cx="8352928" cy="4956833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755576" y="1135286"/>
            <a:ext cx="2088232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755576" y="1543554"/>
            <a:ext cx="576064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4" name="Textfeld 13"/>
          <p:cNvSpPr txBox="1"/>
          <p:nvPr/>
        </p:nvSpPr>
        <p:spPr>
          <a:xfrm>
            <a:off x="755576" y="1960714"/>
            <a:ext cx="1008112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755576" y="2780485"/>
            <a:ext cx="792088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755576" y="2372649"/>
            <a:ext cx="2232248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766478" y="4510272"/>
            <a:ext cx="2293354" cy="369332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725" y="369565"/>
            <a:ext cx="4843837" cy="43204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2554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827584" y="1851670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400" u="sng" dirty="0">
                <a:hlinkClick r:id="rId3"/>
              </a:rPr>
              <a:t>https://services.dnb.de/sru/dnb?version=1.1&amp;operation=searchRetrieve&amp;query=comic&amp;recordSchema=MARC21-xml</a:t>
            </a:r>
            <a:endParaRPr lang="de-DE" sz="2100" dirty="0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14</a:t>
            </a:r>
            <a:endParaRPr lang="de-DE" sz="1000" b="1" dirty="0"/>
          </a:p>
        </p:txBody>
      </p:sp>
      <p:sp>
        <p:nvSpPr>
          <p:cNvPr id="11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12" name="Titel 3"/>
          <p:cNvSpPr>
            <a:spLocks noGrp="1"/>
          </p:cNvSpPr>
          <p:nvPr>
            <p:ph type="title" idx="4294967295"/>
          </p:nvPr>
        </p:nvSpPr>
        <p:spPr>
          <a:xfrm>
            <a:off x="899592" y="987425"/>
            <a:ext cx="5445646" cy="584200"/>
          </a:xfrm>
        </p:spPr>
        <p:txBody>
          <a:bodyPr/>
          <a:lstStyle/>
          <a:p>
            <a:r>
              <a:rPr lang="de-DE" dirty="0" smtClean="0"/>
              <a:t>SRU-Abfrage im Browser</a:t>
            </a:r>
            <a:endParaRPr lang="de-DE" dirty="0"/>
          </a:p>
        </p:txBody>
      </p:sp>
      <p:sp>
        <p:nvSpPr>
          <p:cNvPr id="6" name="Ellipse 5"/>
          <p:cNvSpPr/>
          <p:nvPr/>
        </p:nvSpPr>
        <p:spPr>
          <a:xfrm>
            <a:off x="4451350" y="2208905"/>
            <a:ext cx="2280890" cy="50405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/>
          <p:cNvSpPr/>
          <p:nvPr/>
        </p:nvSpPr>
        <p:spPr>
          <a:xfrm>
            <a:off x="827584" y="3551014"/>
            <a:ext cx="65207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smtClean="0"/>
              <a:t>Abfragen im Browser zeigen nur die ersten 100 Titel… </a:t>
            </a:r>
          </a:p>
          <a:p>
            <a:r>
              <a:rPr lang="de-DE" dirty="0" smtClean="0"/>
              <a:t>&amp;</a:t>
            </a:r>
            <a:r>
              <a:rPr lang="de-DE" dirty="0" err="1"/>
              <a:t>startRecord</a:t>
            </a:r>
            <a:r>
              <a:rPr lang="de-DE" dirty="0"/>
              <a:t>=101</a:t>
            </a:r>
          </a:p>
        </p:txBody>
      </p:sp>
    </p:spTree>
    <p:extLst>
      <p:ext uri="{BB962C8B-B14F-4D97-AF65-F5344CB8AC3E}">
        <p14:creationId xmlns:p14="http://schemas.microsoft.com/office/powerpoint/2010/main" val="87616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15</a:t>
            </a:r>
            <a:endParaRPr lang="de-DE" sz="1000" b="1" dirty="0"/>
          </a:p>
        </p:txBody>
      </p:sp>
      <p:sp>
        <p:nvSpPr>
          <p:cNvPr id="9" name="Titel 3"/>
          <p:cNvSpPr>
            <a:spLocks noGrp="1"/>
          </p:cNvSpPr>
          <p:nvPr>
            <p:ph type="title"/>
          </p:nvPr>
        </p:nvSpPr>
        <p:spPr>
          <a:xfrm>
            <a:off x="795338" y="1059582"/>
            <a:ext cx="7593012" cy="777600"/>
          </a:xfrm>
        </p:spPr>
        <p:txBody>
          <a:bodyPr/>
          <a:lstStyle/>
          <a:p>
            <a:r>
              <a:rPr lang="de-DE" dirty="0" smtClean="0"/>
              <a:t>SRU und CQL</a:t>
            </a:r>
            <a:endParaRPr lang="de-DE" dirty="0"/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806443" y="1928937"/>
            <a:ext cx="7293949" cy="293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342900" indent="-342900" eaLnBrk="1" hangingPunct="1">
              <a:lnSpc>
                <a:spcPts val="2400"/>
              </a:lnSpc>
              <a:spcBef>
                <a:spcPts val="1680"/>
              </a:spcBef>
              <a:buFont typeface="Verdana" pitchFamily="34" charset="0"/>
              <a:buChar char="–"/>
              <a:defRPr sz="2000">
                <a:latin typeface="+mn-lt"/>
                <a:cs typeface="+mn-cs"/>
              </a:defRPr>
            </a:lvl1pPr>
            <a:lvl2pPr marL="742950" lvl="1" indent="-285750" eaLnBrk="1" hangingPunct="1">
              <a:lnSpc>
                <a:spcPts val="2000"/>
              </a:lnSpc>
              <a:spcBef>
                <a:spcPts val="300"/>
              </a:spcBef>
              <a:buChar char="-"/>
              <a:defRPr sz="1600">
                <a:latin typeface="+mn-lt"/>
                <a:cs typeface="+mn-cs"/>
              </a:defRPr>
            </a:lvl2pPr>
            <a:lvl3pPr marL="1143000" indent="-228600" eaLnBrk="1" hangingPunct="1">
              <a:lnSpc>
                <a:spcPts val="2000"/>
              </a:lnSpc>
              <a:spcBef>
                <a:spcPts val="300"/>
              </a:spcBef>
              <a:buChar char="-"/>
              <a:defRPr sz="1600">
                <a:latin typeface="+mn-lt"/>
                <a:cs typeface="+mn-cs"/>
              </a:defRPr>
            </a:lvl3pPr>
            <a:lvl4pPr marL="1600200" indent="-228600" eaLnBrk="1" hangingPunct="1">
              <a:lnSpc>
                <a:spcPts val="2000"/>
              </a:lnSpc>
              <a:spcBef>
                <a:spcPts val="300"/>
              </a:spcBef>
              <a:buChar char="-"/>
              <a:defRPr sz="1600">
                <a:latin typeface="+mn-lt"/>
                <a:cs typeface="+mn-cs"/>
              </a:defRPr>
            </a:lvl4pPr>
            <a:lvl5pPr marL="2057400" indent="-228600" eaLnBrk="1" hangingPunct="1">
              <a:lnSpc>
                <a:spcPts val="2000"/>
              </a:lnSpc>
              <a:spcBef>
                <a:spcPts val="300"/>
              </a:spcBef>
              <a:buChar char="-"/>
              <a:defRPr sz="1600">
                <a:latin typeface="+mn-lt"/>
                <a:cs typeface="+mn-cs"/>
              </a:defRPr>
            </a:lvl5pPr>
            <a:lvl6pPr marL="2514600" indent="-22860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latin typeface="+mn-lt"/>
                <a:cs typeface="+mn-cs"/>
              </a:defRPr>
            </a:lvl6pPr>
            <a:lvl7pPr marL="2971800" indent="-22860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latin typeface="+mn-lt"/>
                <a:cs typeface="+mn-cs"/>
              </a:defRPr>
            </a:lvl7pPr>
            <a:lvl8pPr marL="3429000" indent="-22860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latin typeface="+mn-lt"/>
                <a:cs typeface="+mn-cs"/>
              </a:defRPr>
            </a:lvl8pPr>
            <a:lvl9pPr marL="3886200" indent="-228600" fontAlgn="base">
              <a:lnSpc>
                <a:spcPts val="2400"/>
              </a:lnSpc>
              <a:spcBef>
                <a:spcPct val="20000"/>
              </a:spcBef>
              <a:spcAft>
                <a:spcPct val="0"/>
              </a:spcAft>
              <a:buChar char="-"/>
              <a:defRPr sz="1600">
                <a:latin typeface="+mn-lt"/>
                <a:cs typeface="+mn-cs"/>
              </a:defRPr>
            </a:lvl9pPr>
          </a:lstStyle>
          <a:p>
            <a:r>
              <a:rPr lang="en-GB" altLang="de-DE" dirty="0" smtClean="0"/>
              <a:t>Standard für </a:t>
            </a:r>
            <a:r>
              <a:rPr lang="en-GB" altLang="de-DE" dirty="0" err="1" smtClean="0"/>
              <a:t>Struktur</a:t>
            </a:r>
            <a:r>
              <a:rPr lang="en-GB" altLang="de-DE" dirty="0" smtClean="0"/>
              <a:t> der </a:t>
            </a:r>
            <a:r>
              <a:rPr lang="en-GB" altLang="de-DE" dirty="0" err="1" smtClean="0"/>
              <a:t>Suchanfragen</a:t>
            </a:r>
            <a:endParaRPr lang="en-GB" altLang="de-DE" dirty="0" smtClean="0"/>
          </a:p>
          <a:p>
            <a:r>
              <a:rPr lang="en-GB" altLang="de-DE" dirty="0" err="1" smtClean="0"/>
              <a:t>Angabe</a:t>
            </a:r>
            <a:r>
              <a:rPr lang="en-GB" altLang="de-DE" dirty="0" smtClean="0"/>
              <a:t> </a:t>
            </a:r>
            <a:r>
              <a:rPr lang="en-GB" altLang="de-DE" dirty="0" err="1" smtClean="0"/>
              <a:t>Indexkürzel</a:t>
            </a:r>
            <a:r>
              <a:rPr lang="en-GB" altLang="de-DE" dirty="0" smtClean="0"/>
              <a:t>, </a:t>
            </a:r>
            <a:r>
              <a:rPr lang="en-GB" altLang="de-DE" dirty="0" err="1" smtClean="0"/>
              <a:t>sonst</a:t>
            </a:r>
            <a:r>
              <a:rPr lang="en-GB" altLang="de-DE" dirty="0" smtClean="0"/>
              <a:t> </a:t>
            </a:r>
            <a:r>
              <a:rPr lang="en-GB" altLang="de-DE" dirty="0" err="1" smtClean="0"/>
              <a:t>Standardindex</a:t>
            </a:r>
            <a:r>
              <a:rPr lang="en-GB" altLang="de-DE" dirty="0" smtClean="0"/>
              <a:t> WOE</a:t>
            </a:r>
          </a:p>
          <a:p>
            <a:r>
              <a:rPr lang="en-GB" altLang="de-DE" dirty="0" err="1"/>
              <a:t>Boolesche</a:t>
            </a:r>
            <a:r>
              <a:rPr lang="en-GB" altLang="de-DE" dirty="0"/>
              <a:t> </a:t>
            </a:r>
            <a:r>
              <a:rPr lang="en-GB" altLang="de-DE" dirty="0" err="1"/>
              <a:t>Operatoren</a:t>
            </a:r>
            <a:r>
              <a:rPr lang="en-GB" altLang="de-DE" dirty="0"/>
              <a:t> (and, or, not)</a:t>
            </a:r>
          </a:p>
          <a:p>
            <a:r>
              <a:rPr lang="de-DE" dirty="0" smtClean="0"/>
              <a:t>Sternchen </a:t>
            </a:r>
            <a:r>
              <a:rPr lang="de-DE" dirty="0"/>
              <a:t>* </a:t>
            </a:r>
            <a:r>
              <a:rPr lang="de-DE" dirty="0" smtClean="0"/>
              <a:t>als </a:t>
            </a:r>
            <a:r>
              <a:rPr lang="de-DE" dirty="0"/>
              <a:t>Platzhalter für eine beliebige Anzahl von </a:t>
            </a:r>
            <a:r>
              <a:rPr lang="de-DE" dirty="0" smtClean="0"/>
              <a:t>Zeichen</a:t>
            </a:r>
            <a:endParaRPr lang="en-GB" altLang="de-DE" dirty="0"/>
          </a:p>
          <a:p>
            <a:endParaRPr lang="en-GB" alt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619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16</a:t>
            </a:r>
            <a:endParaRPr lang="de-DE" sz="1000" b="1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111671"/>
            <a:ext cx="4248472" cy="4584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7" y="1552139"/>
            <a:ext cx="5904656" cy="3088395"/>
          </a:xfrm>
          <a:prstGeom prst="rect">
            <a:avLst/>
          </a:prstGeom>
        </p:spPr>
      </p:pic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12" name="Titel 11"/>
          <p:cNvSpPr>
            <a:spLocks noGrp="1"/>
          </p:cNvSpPr>
          <p:nvPr>
            <p:ph type="title" idx="4294967295"/>
          </p:nvPr>
        </p:nvSpPr>
        <p:spPr>
          <a:xfrm>
            <a:off x="827584" y="539750"/>
            <a:ext cx="705678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400" dirty="0">
                <a:hlinkClick r:id="rId5"/>
              </a:rPr>
              <a:t>https://dnb-sru-demo.streamlit.app</a:t>
            </a:r>
            <a:r>
              <a:rPr lang="de-DE" sz="2400" dirty="0" smtClean="0">
                <a:hlinkClick r:id="rId5"/>
              </a:rPr>
              <a:t>/</a:t>
            </a:r>
            <a:r>
              <a:rPr lang="de-DE" sz="2400" dirty="0" smtClean="0"/>
              <a:t>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55614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3"/>
          <p:cNvSpPr>
            <a:spLocks noGrp="1"/>
          </p:cNvSpPr>
          <p:nvPr>
            <p:ph type="title" idx="4294967295"/>
          </p:nvPr>
        </p:nvSpPr>
        <p:spPr>
          <a:xfrm>
            <a:off x="755576" y="317426"/>
            <a:ext cx="8153400" cy="584200"/>
          </a:xfrm>
        </p:spPr>
        <p:txBody>
          <a:bodyPr/>
          <a:lstStyle/>
          <a:p>
            <a:r>
              <a:rPr lang="de-DE" sz="2000" b="0" dirty="0" smtClean="0">
                <a:hlinkClick r:id="rId3"/>
              </a:rPr>
              <a:t>https://github.com/deutsche-nationalbibliothek/SRUQueryTool</a:t>
            </a:r>
            <a:r>
              <a:rPr lang="de-DE" sz="2000" b="0" dirty="0" smtClean="0"/>
              <a:t> </a:t>
            </a:r>
            <a:endParaRPr lang="de-DE" sz="2000" b="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17</a:t>
            </a:r>
            <a:endParaRPr lang="de-DE" sz="1000" b="1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915566"/>
            <a:ext cx="4547998" cy="405962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 rot="1331418">
            <a:off x="4032417" y="3536493"/>
            <a:ext cx="4799853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de-DE" b="1" dirty="0"/>
              <a:t>https://tinyurl.com/SRUQueryTool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>
                <a:solidFill>
                  <a:srgbClr val="808080"/>
                </a:solidFill>
              </a:rPr>
              <a:t>| Stephanie Nitsche | Arbeiten mit den Daten der DNB  |  02. Juni 2026  </a:t>
            </a:r>
            <a:endParaRPr lang="de-DE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40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123478"/>
            <a:ext cx="7756419" cy="4896544"/>
          </a:xfrm>
          <a:prstGeom prst="rect">
            <a:avLst/>
          </a:prstGeom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18</a:t>
            </a:r>
            <a:endParaRPr lang="de-DE" sz="1000" b="1" dirty="0"/>
          </a:p>
        </p:txBody>
      </p:sp>
      <p:sp>
        <p:nvSpPr>
          <p:cNvPr id="3" name="Textfeld 2"/>
          <p:cNvSpPr txBox="1"/>
          <p:nvPr/>
        </p:nvSpPr>
        <p:spPr>
          <a:xfrm rot="1331418">
            <a:off x="5212371" y="724360"/>
            <a:ext cx="372185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de-DE" sz="1400" b="1" dirty="0"/>
              <a:t>https://tinyurl.com/SRUQueryTool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6228184" y="4155926"/>
            <a:ext cx="1944216" cy="792088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>
                <a:solidFill>
                  <a:srgbClr val="808080"/>
                </a:solidFill>
              </a:rPr>
              <a:t>| Stephanie Nitsche | Arbeiten mit den Daten der DNB  |  02. Juni 2026  </a:t>
            </a:r>
            <a:endParaRPr lang="de-DE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63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12847"/>
            <a:ext cx="8136904" cy="4986936"/>
          </a:xfrm>
          <a:prstGeom prst="rect">
            <a:avLst/>
          </a:prstGeom>
        </p:spPr>
      </p:pic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19</a:t>
            </a:r>
            <a:endParaRPr lang="de-DE" sz="1000" b="1" dirty="0"/>
          </a:p>
        </p:txBody>
      </p:sp>
      <p:sp>
        <p:nvSpPr>
          <p:cNvPr id="3" name="Textfeld 2"/>
          <p:cNvSpPr txBox="1"/>
          <p:nvPr/>
        </p:nvSpPr>
        <p:spPr>
          <a:xfrm rot="1331418">
            <a:off x="5212371" y="724360"/>
            <a:ext cx="3721851" cy="30777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de-DE" sz="1400" b="1" dirty="0"/>
              <a:t>https://tinyurl.com/SRUQueryTool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899592" y="2787774"/>
            <a:ext cx="4176464" cy="1584176"/>
          </a:xfrm>
          <a:prstGeom prst="roundRect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/>
          <p:cNvSpPr txBox="1"/>
          <p:nvPr/>
        </p:nvSpPr>
        <p:spPr>
          <a:xfrm>
            <a:off x="2267744" y="2859782"/>
            <a:ext cx="1791461" cy="974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de-DE" dirty="0" smtClean="0">
                <a:solidFill>
                  <a:srgbClr val="FFC000"/>
                </a:solidFill>
              </a:rPr>
              <a:t>        </a:t>
            </a:r>
            <a:r>
              <a:rPr lang="de-DE" dirty="0" smtClean="0">
                <a:solidFill>
                  <a:srgbClr val="FFC000"/>
                </a:solidFill>
                <a:latin typeface="Segoe Script" panose="030B0504020000000003" pitchFamily="66" charset="0"/>
              </a:rPr>
              <a:t>Linux</a:t>
            </a:r>
          </a:p>
          <a:p>
            <a:pPr>
              <a:spcAft>
                <a:spcPts val="200"/>
              </a:spcAft>
            </a:pPr>
            <a:r>
              <a:rPr lang="de-DE" dirty="0" smtClean="0">
                <a:solidFill>
                  <a:srgbClr val="FFC000"/>
                </a:solidFill>
                <a:latin typeface="Segoe Script" panose="030B0504020000000003" pitchFamily="66" charset="0"/>
              </a:rPr>
              <a:t> MacOS</a:t>
            </a:r>
          </a:p>
          <a:p>
            <a:pPr>
              <a:spcAft>
                <a:spcPts val="200"/>
              </a:spcAft>
            </a:pPr>
            <a:r>
              <a:rPr lang="de-DE" dirty="0" smtClean="0">
                <a:solidFill>
                  <a:srgbClr val="FFC000"/>
                </a:solidFill>
                <a:latin typeface="Segoe Script" panose="030B0504020000000003" pitchFamily="66" charset="0"/>
              </a:rPr>
              <a:t>Windows</a:t>
            </a:r>
            <a:endParaRPr lang="de-DE" dirty="0">
              <a:solidFill>
                <a:srgbClr val="FFC000"/>
              </a:solidFill>
              <a:latin typeface="Segoe Script" panose="030B0504020000000003" pitchFamily="66" charset="0"/>
            </a:endParaRPr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>
                <a:solidFill>
                  <a:srgbClr val="808080"/>
                </a:solidFill>
              </a:rPr>
              <a:t>| Stephanie Nitsche | Arbeiten mit den Daten der DNB  |  02. Juni 2026  </a:t>
            </a:r>
            <a:endParaRPr lang="de-DE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59919840-584C-41F3-8B19-AA1DE403F7BF}" type="slidenum">
              <a:rPr lang="de-DE" sz="1000" b="1" smtClean="0"/>
              <a:t>20</a:t>
            </a:fld>
            <a:endParaRPr lang="de-DE" sz="1000" b="1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pic>
        <p:nvPicPr>
          <p:cNvPr id="2" name="Inhaltsplatzhalt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712" y="1088342"/>
            <a:ext cx="5313241" cy="3705144"/>
          </a:xfrm>
          <a:prstGeom prst="rect">
            <a:avLst/>
          </a:prstGeom>
        </p:spPr>
      </p:pic>
      <p:sp>
        <p:nvSpPr>
          <p:cNvPr id="8" name="Titel 2"/>
          <p:cNvSpPr txBox="1">
            <a:spLocks/>
          </p:cNvSpPr>
          <p:nvPr/>
        </p:nvSpPr>
        <p:spPr>
          <a:xfrm>
            <a:off x="827088" y="699542"/>
            <a:ext cx="8065392" cy="7776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de-DE" sz="2800" dirty="0" smtClean="0"/>
              <a:t>Metadatenformate</a:t>
            </a:r>
            <a:endParaRPr lang="de-DE" sz="2800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753993834"/>
              </p:ext>
            </p:extLst>
          </p:nvPr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22504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7" y="1649552"/>
            <a:ext cx="5358283" cy="3100098"/>
          </a:xfrm>
          <a:prstGeom prst="rect">
            <a:avLst/>
          </a:prstGeom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FB863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21</a:t>
            </a:r>
            <a:endParaRPr lang="de-DE" sz="1000" b="1" dirty="0"/>
          </a:p>
        </p:txBody>
      </p:sp>
      <p:sp>
        <p:nvSpPr>
          <p:cNvPr id="7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2308669" y="1280220"/>
            <a:ext cx="679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Handout unter </a:t>
            </a:r>
            <a:r>
              <a:rPr lang="de-DE" dirty="0" smtClean="0">
                <a:hlinkClick r:id="rId4"/>
              </a:rPr>
              <a:t>dnb.de/</a:t>
            </a:r>
            <a:r>
              <a:rPr lang="de-DE" dirty="0" err="1" smtClean="0">
                <a:hlinkClick r:id="rId4"/>
              </a:rPr>
              <a:t>dnblabtutorials</a:t>
            </a:r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6" name="Titel 2"/>
          <p:cNvSpPr txBox="1">
            <a:spLocks/>
          </p:cNvSpPr>
          <p:nvPr/>
        </p:nvSpPr>
        <p:spPr>
          <a:xfrm>
            <a:off x="827088" y="699542"/>
            <a:ext cx="8065392" cy="7776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de-DE" sz="2800" dirty="0" smtClean="0"/>
              <a:t>Metadatenformate</a:t>
            </a:r>
            <a:endParaRPr lang="de-DE" sz="2800" dirty="0"/>
          </a:p>
        </p:txBody>
      </p:sp>
      <p:graphicFrame>
        <p:nvGraphicFramePr>
          <p:cNvPr id="9" name="Diagramm 8"/>
          <p:cNvGraphicFramePr/>
          <p:nvPr>
            <p:extLst>
              <p:ext uri="{D42A27DB-BD31-4B8C-83A1-F6EECF244321}">
                <p14:modId xmlns:p14="http://schemas.microsoft.com/office/powerpoint/2010/main" val="3080066119"/>
              </p:ext>
            </p:extLst>
          </p:nvPr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4655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59919840-584C-41F3-8B19-AA1DE403F7BF}" type="slidenum">
              <a:rPr lang="de-DE" sz="1000" b="1" smtClean="0"/>
              <a:t>22</a:t>
            </a:fld>
            <a:endParaRPr lang="de-DE" sz="1000" b="1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8" name="Titel 2"/>
          <p:cNvSpPr txBox="1">
            <a:spLocks/>
          </p:cNvSpPr>
          <p:nvPr/>
        </p:nvSpPr>
        <p:spPr>
          <a:xfrm>
            <a:off x="827088" y="699542"/>
            <a:ext cx="8065392" cy="77760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r>
              <a:rPr lang="de-DE" sz="2800" dirty="0" smtClean="0"/>
              <a:t>Metadatenformate</a:t>
            </a:r>
          </a:p>
          <a:p>
            <a:pPr>
              <a:spcBef>
                <a:spcPts val="1200"/>
              </a:spcBef>
            </a:pPr>
            <a:r>
              <a:rPr lang="de-DE" sz="2800" dirty="0" smtClean="0"/>
              <a:t>MARC21-xml</a:t>
            </a:r>
            <a:endParaRPr lang="de-DE" sz="2800" dirty="0"/>
          </a:p>
        </p:txBody>
      </p:sp>
      <p:graphicFrame>
        <p:nvGraphicFramePr>
          <p:cNvPr id="6" name="Diagramm 5"/>
          <p:cNvGraphicFramePr/>
          <p:nvPr/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Inhaltsplatzhalter 2"/>
          <p:cNvSpPr>
            <a:spLocks noGrp="1"/>
          </p:cNvSpPr>
          <p:nvPr>
            <p:ph idx="1"/>
          </p:nvPr>
        </p:nvSpPr>
        <p:spPr>
          <a:xfrm>
            <a:off x="749298" y="1905982"/>
            <a:ext cx="8199974" cy="2754000"/>
          </a:xfrm>
        </p:spPr>
        <p:txBody>
          <a:bodyPr/>
          <a:lstStyle/>
          <a:p>
            <a:pPr>
              <a:spcBef>
                <a:spcPts val="1200"/>
              </a:spcBef>
              <a:buFont typeface="Verdana" panose="020B0604030504040204" pitchFamily="34" charset="0"/>
              <a:buChar char="|"/>
            </a:pPr>
            <a:r>
              <a:rPr lang="de-DE" sz="1800" dirty="0"/>
              <a:t>MARC = </a:t>
            </a:r>
            <a:r>
              <a:rPr lang="de-DE" sz="1800" b="1" dirty="0" err="1"/>
              <a:t>Ma</a:t>
            </a:r>
            <a:r>
              <a:rPr lang="de-DE" sz="1800" dirty="0" err="1"/>
              <a:t>chine-</a:t>
            </a:r>
            <a:r>
              <a:rPr lang="de-DE" sz="1800" b="1" dirty="0" err="1"/>
              <a:t>R</a:t>
            </a:r>
            <a:r>
              <a:rPr lang="de-DE" sz="1800" dirty="0" err="1"/>
              <a:t>eadable</a:t>
            </a:r>
            <a:r>
              <a:rPr lang="de-DE" sz="1800" dirty="0"/>
              <a:t> </a:t>
            </a:r>
            <a:r>
              <a:rPr lang="de-DE" sz="1800" b="1" dirty="0" err="1"/>
              <a:t>C</a:t>
            </a:r>
            <a:r>
              <a:rPr lang="de-DE" sz="1800" dirty="0" err="1"/>
              <a:t>ataloguing</a:t>
            </a:r>
            <a:endParaRPr lang="de-DE" sz="1800" dirty="0"/>
          </a:p>
          <a:p>
            <a:pPr>
              <a:spcBef>
                <a:spcPts val="1200"/>
              </a:spcBef>
              <a:buFont typeface="Verdana" panose="020B0604030504040204" pitchFamily="34" charset="0"/>
              <a:buChar char="|"/>
            </a:pPr>
            <a:r>
              <a:rPr lang="de-DE" sz="1800" dirty="0"/>
              <a:t>Metadatenformat für den Austausch von Bibliotheksdaten</a:t>
            </a:r>
          </a:p>
          <a:p>
            <a:pPr>
              <a:spcBef>
                <a:spcPts val="1200"/>
              </a:spcBef>
              <a:buFont typeface="Verdana" panose="020B0604030504040204" pitchFamily="34" charset="0"/>
              <a:buChar char="|"/>
            </a:pPr>
            <a:r>
              <a:rPr lang="de-DE" sz="1800" dirty="0"/>
              <a:t>1960er-Jahre: Entwicklung durch die Library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Congress</a:t>
            </a:r>
            <a:endParaRPr lang="de-DE" sz="1800" dirty="0"/>
          </a:p>
          <a:p>
            <a:pPr>
              <a:spcBef>
                <a:spcPts val="1200"/>
              </a:spcBef>
              <a:buFont typeface="Verdana" panose="020B0604030504040204" pitchFamily="34" charset="0"/>
              <a:buChar char="|"/>
            </a:pPr>
            <a:r>
              <a:rPr lang="de-DE" sz="1800" dirty="0"/>
              <a:t>1999: Version </a:t>
            </a:r>
            <a:r>
              <a:rPr lang="de-DE" sz="1800" dirty="0" smtClean="0"/>
              <a:t>MARC 21 </a:t>
            </a:r>
            <a:r>
              <a:rPr lang="de-DE" sz="1800" dirty="0"/>
              <a:t>(Harmonisierung Vorgängervarianten)</a:t>
            </a:r>
          </a:p>
          <a:p>
            <a:pPr>
              <a:spcBef>
                <a:spcPts val="1200"/>
              </a:spcBef>
              <a:buFont typeface="Verdana" panose="020B0604030504040204" pitchFamily="34" charset="0"/>
              <a:buChar char="|"/>
            </a:pPr>
            <a:r>
              <a:rPr lang="de-DE" sz="1800" dirty="0"/>
              <a:t>2004: Beschluss zur Übernahme von </a:t>
            </a:r>
            <a:r>
              <a:rPr lang="de-DE" sz="1800" dirty="0" smtClean="0"/>
              <a:t>MARC 21 </a:t>
            </a:r>
            <a:r>
              <a:rPr lang="de-DE" sz="1800" dirty="0"/>
              <a:t>als einheitliches Austauschformat im deutschsprachigen Bibliothekswesen</a:t>
            </a:r>
          </a:p>
          <a:p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320848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23</a:t>
            </a:r>
            <a:endParaRPr lang="de-DE" sz="1000" b="1" dirty="0"/>
          </a:p>
        </p:txBody>
      </p:sp>
      <p:sp>
        <p:nvSpPr>
          <p:cNvPr id="11" name="Titel 7"/>
          <p:cNvSpPr>
            <a:spLocks noGrp="1"/>
          </p:cNvSpPr>
          <p:nvPr>
            <p:ph type="title"/>
          </p:nvPr>
        </p:nvSpPr>
        <p:spPr>
          <a:xfrm>
            <a:off x="764514" y="843558"/>
            <a:ext cx="7593012" cy="777600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de-DE" sz="2800" dirty="0" smtClean="0"/>
              <a:t>MARC21-xml: 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764514" y="1958518"/>
            <a:ext cx="726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endParaRPr lang="de-DE" sz="2000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764514" y="1563638"/>
            <a:ext cx="8460000" cy="2754000"/>
          </a:xfrm>
        </p:spPr>
        <p:txBody>
          <a:bodyPr/>
          <a:lstStyle/>
          <a:p>
            <a:pPr>
              <a:buFont typeface="Verdana" panose="020B0604030504040204" pitchFamily="34" charset="0"/>
              <a:buChar char="|"/>
            </a:pPr>
            <a:r>
              <a:rPr lang="de-DE" sz="1800" dirty="0"/>
              <a:t>bibliografisches </a:t>
            </a:r>
            <a:r>
              <a:rPr lang="de-DE" sz="1800" dirty="0" smtClean="0"/>
              <a:t>Metadatenformat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1800" dirty="0"/>
              <a:t>Daten </a:t>
            </a:r>
            <a:r>
              <a:rPr lang="de-DE" sz="1800" dirty="0" smtClean="0"/>
              <a:t>werden in </a:t>
            </a:r>
            <a:r>
              <a:rPr lang="de-DE" sz="1800" dirty="0"/>
              <a:t>einem strukturierten und standardisierten </a:t>
            </a:r>
            <a:r>
              <a:rPr lang="de-DE" sz="1800" dirty="0" smtClean="0"/>
              <a:t>Format gespeichert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1800" dirty="0" smtClean="0"/>
              <a:t>Jeder </a:t>
            </a:r>
            <a:r>
              <a:rPr lang="de-DE" sz="1800" dirty="0"/>
              <a:t>Datensatz besteht aus mehreren </a:t>
            </a:r>
            <a:r>
              <a:rPr lang="de-DE" sz="1800" b="1" dirty="0" smtClean="0"/>
              <a:t>Feldern</a:t>
            </a:r>
            <a:r>
              <a:rPr lang="de-DE" sz="1800" dirty="0" smtClean="0"/>
              <a:t>, </a:t>
            </a:r>
            <a:r>
              <a:rPr lang="de-DE" sz="1800" dirty="0"/>
              <a:t>die spezifische Informationen zu einer Ressource (z. B</a:t>
            </a:r>
            <a:r>
              <a:rPr lang="de-DE" sz="1800" dirty="0" smtClean="0"/>
              <a:t>. </a:t>
            </a:r>
            <a:r>
              <a:rPr lang="de-DE" sz="1800" dirty="0"/>
              <a:t>Buch, </a:t>
            </a:r>
            <a:r>
              <a:rPr lang="de-DE" sz="1800" dirty="0" smtClean="0"/>
              <a:t>DVD </a:t>
            </a:r>
            <a:r>
              <a:rPr lang="de-DE" sz="1800" dirty="0"/>
              <a:t>DVD) </a:t>
            </a:r>
            <a:r>
              <a:rPr lang="de-DE" sz="1800" dirty="0" smtClean="0"/>
              <a:t>enthalten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1800" dirty="0" smtClean="0"/>
              <a:t>Einige </a:t>
            </a:r>
            <a:r>
              <a:rPr lang="de-DE" sz="1800" dirty="0"/>
              <a:t>Informationen können sich in mehreren Feldern befinden (bspw. </a:t>
            </a:r>
            <a:r>
              <a:rPr lang="de-DE" sz="1800" dirty="0" smtClean="0"/>
              <a:t>Jahreszahlen)</a:t>
            </a:r>
            <a:endParaRPr lang="de-DE" sz="1800" dirty="0"/>
          </a:p>
          <a:p>
            <a:endParaRPr lang="de-DE" sz="1800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22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24</a:t>
            </a:r>
            <a:endParaRPr lang="de-DE" sz="1000" b="1" dirty="0"/>
          </a:p>
        </p:txBody>
      </p:sp>
      <p:sp>
        <p:nvSpPr>
          <p:cNvPr id="11" name="Titel 7"/>
          <p:cNvSpPr>
            <a:spLocks noGrp="1"/>
          </p:cNvSpPr>
          <p:nvPr>
            <p:ph type="title"/>
          </p:nvPr>
        </p:nvSpPr>
        <p:spPr>
          <a:xfrm>
            <a:off x="764514" y="843558"/>
            <a:ext cx="7593012" cy="777600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de-DE" sz="2800" dirty="0" smtClean="0"/>
              <a:t>MARC21-xml: 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764514" y="1958518"/>
            <a:ext cx="726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endParaRPr lang="de-DE" sz="2000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764514" y="1563638"/>
            <a:ext cx="8460000" cy="2754000"/>
          </a:xfrm>
        </p:spPr>
        <p:txBody>
          <a:bodyPr/>
          <a:lstStyle/>
          <a:p>
            <a:pPr>
              <a:buFont typeface="Verdana" panose="020B0604030504040204" pitchFamily="34" charset="0"/>
              <a:buChar char="|"/>
            </a:pPr>
            <a:r>
              <a:rPr lang="de-DE" dirty="0"/>
              <a:t>Ein MARC21-Datensatz </a:t>
            </a:r>
            <a:r>
              <a:rPr lang="de-DE" dirty="0" smtClean="0"/>
              <a:t>besteht immer aus </a:t>
            </a:r>
            <a:r>
              <a:rPr lang="de-DE" dirty="0"/>
              <a:t>drei </a:t>
            </a:r>
            <a:r>
              <a:rPr lang="de-DE" dirty="0" smtClean="0"/>
              <a:t>Teilen: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b="1" dirty="0"/>
              <a:t>Leitdaten (Leader)</a:t>
            </a:r>
            <a:r>
              <a:rPr lang="de-DE" dirty="0"/>
              <a:t>: Enthält grundlegende Informationen über den Datensatz (z. B. Länge, Status des Datensatzes</a:t>
            </a:r>
            <a:r>
              <a:rPr lang="de-DE" dirty="0" smtClean="0"/>
              <a:t>).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b="1" dirty="0"/>
              <a:t>Steuerfelder (</a:t>
            </a:r>
            <a:r>
              <a:rPr lang="de-DE" b="1" dirty="0" err="1" smtClean="0"/>
              <a:t>Controlfields</a:t>
            </a:r>
            <a:r>
              <a:rPr lang="de-DE" b="1" dirty="0"/>
              <a:t>)</a:t>
            </a:r>
            <a:r>
              <a:rPr lang="de-DE" dirty="0"/>
              <a:t>:</a:t>
            </a:r>
            <a:r>
              <a:rPr lang="de-DE" b="1" dirty="0"/>
              <a:t> </a:t>
            </a:r>
            <a:r>
              <a:rPr lang="de-DE" dirty="0" smtClean="0"/>
              <a:t>Felder, </a:t>
            </a:r>
            <a:r>
              <a:rPr lang="de-DE" dirty="0"/>
              <a:t>die maschinenlesbare Informationen enthalten, z. B. einen </a:t>
            </a:r>
            <a:r>
              <a:rPr lang="de-DE" dirty="0" err="1"/>
              <a:t>Identifikator</a:t>
            </a:r>
            <a:r>
              <a:rPr lang="de-DE" dirty="0"/>
              <a:t> oder den Publikationsstatus</a:t>
            </a:r>
            <a:r>
              <a:rPr lang="de-DE" dirty="0" smtClean="0"/>
              <a:t>.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b="1" dirty="0"/>
              <a:t>Datenfelder (</a:t>
            </a:r>
            <a:r>
              <a:rPr lang="de-DE" b="1" dirty="0" err="1" smtClean="0"/>
              <a:t>Datafields</a:t>
            </a:r>
            <a:r>
              <a:rPr lang="de-DE" b="1" dirty="0"/>
              <a:t>)</a:t>
            </a:r>
            <a:r>
              <a:rPr lang="de-DE" dirty="0"/>
              <a:t>: </a:t>
            </a:r>
            <a:r>
              <a:rPr lang="de-DE" dirty="0" smtClean="0"/>
              <a:t>Enthalten </a:t>
            </a:r>
            <a:r>
              <a:rPr lang="de-DE" dirty="0"/>
              <a:t>die eigentlichen bibliografischen Informationen wie Titel, Autor, Verlag, Erscheinungsjahr usw. </a:t>
            </a:r>
            <a:endParaRPr lang="de-DE" dirty="0" smtClean="0"/>
          </a:p>
          <a:p>
            <a:pPr>
              <a:spcBef>
                <a:spcPts val="600"/>
              </a:spcBef>
              <a:buFont typeface="Verdana" panose="020B0604030504040204" pitchFamily="34" charset="0"/>
              <a:buChar char="|"/>
            </a:pPr>
            <a:r>
              <a:rPr lang="de-DE" dirty="0"/>
              <a:t>Jedes </a:t>
            </a:r>
            <a:r>
              <a:rPr lang="de-DE" b="1" dirty="0" err="1" smtClean="0"/>
              <a:t>Datafield</a:t>
            </a:r>
            <a:r>
              <a:rPr lang="de-DE" dirty="0" smtClean="0"/>
              <a:t> </a:t>
            </a:r>
            <a:r>
              <a:rPr lang="de-DE" dirty="0"/>
              <a:t>besteht aus einer dreistelligen Zahl und kann mehrere </a:t>
            </a:r>
            <a:r>
              <a:rPr lang="de-DE" b="1" dirty="0" smtClean="0"/>
              <a:t>Unterfelder (</a:t>
            </a:r>
            <a:r>
              <a:rPr lang="de-DE" b="1" dirty="0" err="1" smtClean="0"/>
              <a:t>Subfields</a:t>
            </a:r>
            <a:r>
              <a:rPr lang="de-DE" b="1" dirty="0" smtClean="0"/>
              <a:t>)</a:t>
            </a:r>
            <a:r>
              <a:rPr lang="de-DE" dirty="0" smtClean="0"/>
              <a:t> </a:t>
            </a:r>
            <a:r>
              <a:rPr lang="de-DE" dirty="0"/>
              <a:t>enthalten, die durch Buchstaben oder Zahlen gekennzeichnet sind.</a:t>
            </a:r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2022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AEFA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25</a:t>
            </a:r>
            <a:endParaRPr lang="de-DE" sz="1000" b="1" dirty="0"/>
          </a:p>
        </p:txBody>
      </p:sp>
      <p:sp>
        <p:nvSpPr>
          <p:cNvPr id="11" name="Titel 7"/>
          <p:cNvSpPr>
            <a:spLocks noGrp="1"/>
          </p:cNvSpPr>
          <p:nvPr>
            <p:ph type="title"/>
          </p:nvPr>
        </p:nvSpPr>
        <p:spPr>
          <a:xfrm>
            <a:off x="764514" y="843558"/>
            <a:ext cx="7593012" cy="777600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de-DE" sz="2800" dirty="0" smtClean="0"/>
              <a:t>MARC21-xml: 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764514" y="1958518"/>
            <a:ext cx="72638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endParaRPr lang="de-DE" sz="2000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764514" y="1473934"/>
            <a:ext cx="8460000" cy="2754000"/>
          </a:xfrm>
        </p:spPr>
        <p:txBody>
          <a:bodyPr/>
          <a:lstStyle/>
          <a:p>
            <a:pPr>
              <a:buFont typeface="Verdana" panose="020B0604030504040204" pitchFamily="34" charset="0"/>
              <a:buChar char="|"/>
            </a:pPr>
            <a:r>
              <a:rPr lang="de-DE" sz="1800" b="1" dirty="0" smtClean="0"/>
              <a:t>MARC21</a:t>
            </a:r>
            <a:r>
              <a:rPr lang="de-DE" sz="1800" dirty="0" smtClean="0"/>
              <a:t> </a:t>
            </a:r>
            <a:r>
              <a:rPr lang="de-DE" sz="1800" dirty="0"/>
              <a:t>liegt das Regelwerk </a:t>
            </a:r>
            <a:r>
              <a:rPr lang="de-DE" sz="1800" b="1" dirty="0" err="1" smtClean="0"/>
              <a:t>Resource</a:t>
            </a:r>
            <a:r>
              <a:rPr lang="de-DE" sz="1800" b="1" dirty="0" smtClean="0"/>
              <a:t> </a:t>
            </a:r>
            <a:r>
              <a:rPr lang="de-DE" sz="1800" b="1" dirty="0"/>
              <a:t>Description </a:t>
            </a:r>
            <a:r>
              <a:rPr lang="de-DE" sz="1800" b="1" dirty="0" err="1"/>
              <a:t>and</a:t>
            </a:r>
            <a:r>
              <a:rPr lang="de-DE" sz="1800" b="1" dirty="0"/>
              <a:t> Access (RDA)</a:t>
            </a:r>
            <a:r>
              <a:rPr lang="de-DE" sz="1800" dirty="0"/>
              <a:t> </a:t>
            </a:r>
            <a:r>
              <a:rPr lang="de-DE" sz="1800" dirty="0" smtClean="0"/>
              <a:t>zugrunde, d.h. dieses bestimmt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1400" dirty="0" smtClean="0"/>
              <a:t>Welche Felder und Informationen in jedem Datensatz vorhanden sein müssen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1400" dirty="0" smtClean="0"/>
              <a:t>Welche Felder und Informationen optional sind 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1400" dirty="0" smtClean="0"/>
              <a:t>Wie die Informationen in den verschiedenen Feldern „abgelegt“ werden (bspw</a:t>
            </a:r>
            <a:r>
              <a:rPr lang="de-DE" sz="1400" dirty="0"/>
              <a:t>. Regeln zur Erfassung von Autoren / </a:t>
            </a:r>
            <a:r>
              <a:rPr lang="de-DE" sz="1400" dirty="0" smtClean="0"/>
              <a:t>Herausgebern)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1400" dirty="0" smtClean="0"/>
              <a:t>Welche Felder und Unterfelder wiederholbar sind und welche nicht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1400" dirty="0" smtClean="0"/>
              <a:t>Welche Informationen codiert gespeichert werden</a:t>
            </a:r>
            <a:endParaRPr lang="de-DE" sz="1400" dirty="0"/>
          </a:p>
          <a:p>
            <a:pPr>
              <a:buFont typeface="Verdana" panose="020B0604030504040204" pitchFamily="34" charset="0"/>
              <a:buChar char="|"/>
            </a:pPr>
            <a:r>
              <a:rPr lang="de-DE" sz="1800" dirty="0" smtClean="0"/>
              <a:t>Wichtig: Erschließung richtet sich immer nach dem jeweils vorliegenden Medienwerk</a:t>
            </a:r>
            <a:endParaRPr lang="de-DE" sz="1800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702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287338" y="1"/>
            <a:ext cx="215900" cy="897563"/>
          </a:xfrm>
          <a:prstGeom prst="rect">
            <a:avLst/>
          </a:prstGeom>
          <a:solidFill>
            <a:srgbClr val="FFC920"/>
          </a:solidFill>
          <a:ln w="9525">
            <a:noFill/>
            <a:miter lim="800000"/>
            <a:headEnd/>
            <a:tailEnd/>
          </a:ln>
        </p:spPr>
        <p:txBody>
          <a:bodyPr wrap="none" lIns="0" tIns="72000" rIns="0" bIns="0" anchor="ctr" anchorCtr="1"/>
          <a:lstStyle/>
          <a:p>
            <a:pPr algn="ctr"/>
            <a:fld id="{409DEF66-784C-4ABA-A954-EA29E77B5B61}" type="slidenum">
              <a:rPr lang="de-DE" sz="1000" b="1"/>
              <a:pPr algn="ctr"/>
              <a:t>26</a:t>
            </a:fld>
            <a:endParaRPr lang="de-DE" sz="1000" b="1" dirty="0"/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5" t="7364" r="8135" b="7364"/>
          <a:stretch/>
        </p:blipFill>
        <p:spPr>
          <a:xfrm rot="5400000">
            <a:off x="-322191" y="1522535"/>
            <a:ext cx="4166266" cy="2916324"/>
          </a:xfrm>
        </p:spPr>
      </p:pic>
      <p:graphicFrame>
        <p:nvGraphicFramePr>
          <p:cNvPr id="8" name="Tabelle 7"/>
          <p:cNvGraphicFramePr>
            <a:graphicFrameLocks noGrp="1"/>
          </p:cNvGraphicFramePr>
          <p:nvPr/>
        </p:nvGraphicFramePr>
        <p:xfrm>
          <a:off x="3491880" y="882201"/>
          <a:ext cx="5508104" cy="41816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3260">
                  <a:extLst>
                    <a:ext uri="{9D8B030D-6E8A-4147-A177-3AD203B41FA5}">
                      <a16:colId xmlns:a16="http://schemas.microsoft.com/office/drawing/2014/main" val="1442167043"/>
                    </a:ext>
                  </a:extLst>
                </a:gridCol>
                <a:gridCol w="4794844">
                  <a:extLst>
                    <a:ext uri="{9D8B030D-6E8A-4147-A177-3AD203B41FA5}">
                      <a16:colId xmlns:a16="http://schemas.microsoft.com/office/drawing/2014/main" val="273940883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Tag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Inhalt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428199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024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9783931014865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638117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082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$8 2/u  $a 943.4313026092  $q</a:t>
                      </a:r>
                      <a:r>
                        <a:rPr lang="de-DE" sz="900" baseline="0" dirty="0" smtClean="0"/>
                        <a:t> DE-101  $2 22/</a:t>
                      </a:r>
                      <a:r>
                        <a:rPr lang="de-DE" sz="900" baseline="0" dirty="0" err="1" smtClean="0"/>
                        <a:t>ger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370592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100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Eulenstein, Julia  $d 1974-  $e Verfasser  $4</a:t>
                      </a:r>
                      <a:r>
                        <a:rPr lang="de-DE" sz="900" baseline="0" dirty="0" smtClean="0"/>
                        <a:t> </a:t>
                      </a:r>
                      <a:r>
                        <a:rPr lang="de-DE" sz="900" baseline="0" dirty="0" err="1" smtClean="0"/>
                        <a:t>aut</a:t>
                      </a:r>
                      <a:r>
                        <a:rPr lang="de-DE" sz="900" baseline="0" dirty="0" smtClean="0"/>
                        <a:t>  $2 </a:t>
                      </a:r>
                      <a:r>
                        <a:rPr lang="de-DE" sz="900" baseline="0" dirty="0" err="1" smtClean="0"/>
                        <a:t>gnd</a:t>
                      </a:r>
                      <a:r>
                        <a:rPr lang="de-DE" sz="900" baseline="0" dirty="0" smtClean="0"/>
                        <a:t>  $0 (DE-588)1033823317 $0 </a:t>
                      </a:r>
                      <a:r>
                        <a:rPr lang="de-DE" sz="900" baseline="0" dirty="0" smtClean="0">
                          <a:hlinkClick r:id="rId4"/>
                        </a:rPr>
                        <a:t>https://d-nb.info/gnd/1033823317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9436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245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</a:t>
                      </a:r>
                      <a:r>
                        <a:rPr lang="de-DE" sz="900" dirty="0" err="1" smtClean="0"/>
                        <a:t>Territorialisierung</a:t>
                      </a:r>
                      <a:r>
                        <a:rPr lang="de-DE" sz="900" dirty="0" smtClean="0"/>
                        <a:t> mit dem Schwert?  $b die Fehdeführung des Trierer Erzbischofs Balduin von Luxemburg (1307/08 - 1354) im </a:t>
                      </a:r>
                      <a:r>
                        <a:rPr lang="de-DE" sz="900" dirty="0" err="1" smtClean="0"/>
                        <a:t>Erzstift</a:t>
                      </a:r>
                      <a:r>
                        <a:rPr lang="de-DE" sz="900" dirty="0" smtClean="0"/>
                        <a:t> Trier  $c</a:t>
                      </a:r>
                      <a:r>
                        <a:rPr lang="de-DE" sz="900" baseline="0" dirty="0" smtClean="0"/>
                        <a:t> von Julia Eulenstein. [Rheinland-Pfalz, Landesarchivverwaltung]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15854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264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Koblenz  $b Landeshauptarchiv Koblenz  $c 2012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594421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300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</a:t>
                      </a:r>
                      <a:r>
                        <a:rPr lang="de-DE" sz="900" baseline="0" dirty="0" smtClean="0"/>
                        <a:t> X, 612 S.  $b </a:t>
                      </a:r>
                      <a:r>
                        <a:rPr lang="de-DE" sz="900" baseline="0" dirty="0" err="1" smtClean="0"/>
                        <a:t>Kt</a:t>
                      </a:r>
                      <a:r>
                        <a:rPr lang="de-DE" sz="900" baseline="0" dirty="0" smtClean="0"/>
                        <a:t>.  $c 25 cm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21996"/>
                  </a:ext>
                </a:extLst>
              </a:tr>
              <a:tr h="23771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490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Veröffentlichungen der Landesarchivverwaltung Rheinland-Pfalz  $v Bd. 115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64766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502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</a:t>
                      </a:r>
                      <a:r>
                        <a:rPr lang="nb-NO" sz="900" dirty="0" smtClean="0"/>
                        <a:t>Zugl.: Gießen, Univ., Diss., 2009/2010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185636"/>
                  </a:ext>
                </a:extLst>
              </a:tr>
              <a:tr h="249653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651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5551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653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637768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653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704857"/>
                  </a:ext>
                </a:extLst>
              </a:tr>
              <a:tr h="249654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653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445346"/>
                  </a:ext>
                </a:extLst>
              </a:tr>
              <a:tr h="244212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655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2593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810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Landesarchivverwaltung Rheinland-Pfalz  $4</a:t>
                      </a:r>
                      <a:r>
                        <a:rPr lang="de-DE" sz="900" baseline="0" dirty="0" smtClean="0"/>
                        <a:t> </a:t>
                      </a:r>
                      <a:r>
                        <a:rPr lang="de-DE" sz="900" baseline="0" dirty="0" err="1" smtClean="0"/>
                        <a:t>aut</a:t>
                      </a:r>
                      <a:r>
                        <a:rPr lang="de-DE" sz="900" baseline="0" dirty="0" smtClean="0"/>
                        <a:t>  $t Veröffentlichungen der Landesarchivverwaltung Rheinland-Pfalz  $v Bd. 115  $w (DE-101)011436247  $w (DE-600)238856-X  $9 3115  $7 </a:t>
                      </a:r>
                      <a:r>
                        <a:rPr lang="de-DE" sz="900" baseline="0" dirty="0" err="1" smtClean="0"/>
                        <a:t>as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113124"/>
                  </a:ext>
                </a:extLst>
              </a:tr>
            </a:tbl>
          </a:graphicData>
        </a:graphic>
      </p:graphicFrame>
      <p:sp>
        <p:nvSpPr>
          <p:cNvPr id="9" name="Rechteck 8"/>
          <p:cNvSpPr/>
          <p:nvPr/>
        </p:nvSpPr>
        <p:spPr>
          <a:xfrm>
            <a:off x="1328894" y="2931790"/>
            <a:ext cx="864096" cy="21602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3203848" y="171783"/>
            <a:ext cx="42484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5"/>
              </a:rPr>
              <a:t>https://services.dnb.de/sru/dnb?version=1.1&amp;operation=searchRetrieve&amp;query=1033661937&amp;recordSchema=MARC21-xml&amp;maximumRecords=100</a:t>
            </a:r>
            <a:endParaRPr lang="de-DE" sz="10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347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ChangeArrowheads="1"/>
          </p:cNvSpPr>
          <p:nvPr/>
        </p:nvSpPr>
        <p:spPr bwMode="auto">
          <a:xfrm>
            <a:off x="287338" y="1"/>
            <a:ext cx="215900" cy="897563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tIns="72000" rIns="0" bIns="0" anchor="ctr" anchorCtr="1"/>
          <a:lstStyle/>
          <a:p>
            <a:pPr algn="ctr"/>
            <a:fld id="{1F6877A1-CE93-4F03-87E7-6555A3C9C3C2}" type="slidenum">
              <a:rPr lang="de-DE" sz="1000" b="1"/>
              <a:pPr algn="ctr"/>
              <a:t>27</a:t>
            </a:fld>
            <a:endParaRPr lang="de-DE" sz="1000" b="1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3419872" y="1059581"/>
          <a:ext cx="5508104" cy="38825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3260">
                  <a:extLst>
                    <a:ext uri="{9D8B030D-6E8A-4147-A177-3AD203B41FA5}">
                      <a16:colId xmlns:a16="http://schemas.microsoft.com/office/drawing/2014/main" val="1442167043"/>
                    </a:ext>
                  </a:extLst>
                </a:gridCol>
                <a:gridCol w="4794844">
                  <a:extLst>
                    <a:ext uri="{9D8B030D-6E8A-4147-A177-3AD203B41FA5}">
                      <a16:colId xmlns:a16="http://schemas.microsoft.com/office/drawing/2014/main" val="2739408839"/>
                    </a:ext>
                  </a:extLst>
                </a:gridCol>
              </a:tblGrid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Tag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Inhalt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428199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024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638117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082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$8 …  $a …  $q</a:t>
                      </a:r>
                      <a:r>
                        <a:rPr lang="de-DE" sz="900" baseline="0" dirty="0" smtClean="0"/>
                        <a:t> …  $2 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370592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100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</a:t>
                      </a:r>
                      <a:r>
                        <a:rPr lang="de-DE" sz="900" dirty="0" err="1" smtClean="0"/>
                        <a:t>Forstner</a:t>
                      </a:r>
                      <a:r>
                        <a:rPr lang="de-DE" sz="900" dirty="0" smtClean="0"/>
                        <a:t>, Dorothea  $d 1884-1969  $e Verfasser  $4</a:t>
                      </a:r>
                      <a:r>
                        <a:rPr lang="de-DE" sz="900" baseline="0" dirty="0" smtClean="0"/>
                        <a:t> </a:t>
                      </a:r>
                      <a:r>
                        <a:rPr lang="de-DE" sz="900" baseline="0" dirty="0" err="1" smtClean="0"/>
                        <a:t>aut</a:t>
                      </a:r>
                      <a:r>
                        <a:rPr lang="de-DE" sz="900" baseline="0" dirty="0" smtClean="0"/>
                        <a:t>  $2 </a:t>
                      </a:r>
                      <a:r>
                        <a:rPr lang="de-DE" sz="900" baseline="0" dirty="0" err="1" smtClean="0"/>
                        <a:t>gnd</a:t>
                      </a:r>
                      <a:r>
                        <a:rPr lang="de-DE" sz="900" baseline="0" dirty="0" smtClean="0"/>
                        <a:t>  $8 1\p    $0 (DE-588)1089923899 $0 </a:t>
                      </a:r>
                      <a:r>
                        <a:rPr lang="de-DE" sz="900" baseline="0" dirty="0" smtClean="0">
                          <a:hlinkClick r:id="rId3"/>
                        </a:rPr>
                        <a:t>https://d-nb.info/gnd/1089923899</a:t>
                      </a:r>
                      <a:r>
                        <a:rPr lang="de-DE" sz="900" baseline="0" dirty="0" smtClean="0"/>
                        <a:t>  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9436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245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Lexikon christlicher Symbole  $c</a:t>
                      </a:r>
                      <a:r>
                        <a:rPr lang="de-DE" sz="900" baseline="0" dirty="0" smtClean="0"/>
                        <a:t> Dorothea </a:t>
                      </a:r>
                      <a:r>
                        <a:rPr lang="de-DE" sz="900" baseline="0" dirty="0" err="1" smtClean="0"/>
                        <a:t>Forstner</a:t>
                      </a:r>
                      <a:r>
                        <a:rPr lang="de-DE" sz="900" baseline="0" dirty="0" smtClean="0"/>
                        <a:t> ; Renate Becker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15854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250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Aktualisierte </a:t>
                      </a:r>
                      <a:r>
                        <a:rPr lang="de-DE" sz="900" dirty="0" err="1" smtClean="0"/>
                        <a:t>Neuausg</a:t>
                      </a:r>
                      <a:r>
                        <a:rPr lang="de-DE" sz="900" dirty="0" smtClean="0"/>
                        <a:t>.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714596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264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Wiesbaden  $b </a:t>
                      </a:r>
                      <a:r>
                        <a:rPr lang="de-DE" sz="900" dirty="0" err="1" smtClean="0"/>
                        <a:t>Marixverl</a:t>
                      </a:r>
                      <a:r>
                        <a:rPr lang="de-DE" sz="900" dirty="0" smtClean="0"/>
                        <a:t>.  $c 2007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594421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300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</a:t>
                      </a:r>
                      <a:r>
                        <a:rPr lang="de-DE" sz="900" baseline="0" dirty="0" smtClean="0"/>
                        <a:t> 436, [48] S.  $b Ill.  $c 22 cm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21996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500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Lizenz der Verl.-</a:t>
                      </a:r>
                      <a:r>
                        <a:rPr lang="de-DE" sz="900" dirty="0" err="1" smtClean="0"/>
                        <a:t>Anst</a:t>
                      </a:r>
                      <a:r>
                        <a:rPr lang="de-DE" sz="900" dirty="0" smtClean="0"/>
                        <a:t>. </a:t>
                      </a:r>
                      <a:r>
                        <a:rPr lang="de-DE" sz="900" dirty="0" err="1" smtClean="0"/>
                        <a:t>Tyrolia</a:t>
                      </a:r>
                      <a:r>
                        <a:rPr lang="de-DE" sz="900" dirty="0" smtClean="0"/>
                        <a:t>, Innsbruck. - </a:t>
                      </a:r>
                      <a:r>
                        <a:rPr lang="de-DE" sz="900" dirty="0" err="1" smtClean="0"/>
                        <a:t>Literaturverz</a:t>
                      </a:r>
                      <a:r>
                        <a:rPr lang="de-DE" sz="900" dirty="0" smtClean="0"/>
                        <a:t>. S. 408 - 422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605049"/>
                  </a:ext>
                </a:extLst>
              </a:tr>
              <a:tr h="249653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5551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637768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653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704857"/>
                  </a:ext>
                </a:extLst>
              </a:tr>
              <a:tr h="249654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689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445346"/>
                  </a:ext>
                </a:extLst>
              </a:tr>
              <a:tr h="244212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700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Becker, Renate  $e Verfasser  $4 </a:t>
                      </a:r>
                      <a:r>
                        <a:rPr lang="de-DE" sz="900" dirty="0" err="1" smtClean="0"/>
                        <a:t>aut</a:t>
                      </a:r>
                      <a:r>
                        <a:rPr lang="de-DE" sz="900" dirty="0" smtClean="0"/>
                        <a:t>  $2 </a:t>
                      </a:r>
                      <a:r>
                        <a:rPr lang="de-DE" sz="900" dirty="0" err="1" smtClean="0"/>
                        <a:t>gnd</a:t>
                      </a:r>
                      <a:r>
                        <a:rPr lang="de-DE" sz="900" dirty="0" smtClean="0"/>
                        <a:t>  $0</a:t>
                      </a:r>
                      <a:r>
                        <a:rPr lang="de-DE" sz="900" baseline="0" dirty="0" smtClean="0"/>
                        <a:t> (DE-588)1226987982  $0 https://d-nb.info/gnd/1226987982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2593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856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$m</a:t>
                      </a:r>
                      <a:r>
                        <a:rPr lang="de-DE" sz="900" baseline="0" dirty="0" smtClean="0"/>
                        <a:t> V:DE-604  $q </a:t>
                      </a:r>
                      <a:r>
                        <a:rPr lang="de-DE" sz="900" baseline="0" dirty="0" err="1" smtClean="0"/>
                        <a:t>application</a:t>
                      </a:r>
                      <a:r>
                        <a:rPr lang="de-DE" sz="900" baseline="0" dirty="0" smtClean="0"/>
                        <a:t>/</a:t>
                      </a:r>
                      <a:r>
                        <a:rPr lang="de-DE" sz="900" baseline="0" dirty="0" err="1" smtClean="0"/>
                        <a:t>pdf</a:t>
                      </a:r>
                      <a:r>
                        <a:rPr lang="de-DE" sz="900" baseline="0" dirty="0" smtClean="0"/>
                        <a:t>  $u </a:t>
                      </a:r>
                      <a:r>
                        <a:rPr lang="de-DE" sz="900" baseline="0" dirty="0" smtClean="0">
                          <a:hlinkClick r:id="rId4"/>
                        </a:rPr>
                        <a:t>https://d-nb.info/982707010/04</a:t>
                      </a:r>
                      <a:r>
                        <a:rPr lang="de-DE" sz="900" baseline="0" dirty="0" smtClean="0"/>
                        <a:t>  $3 Inhaltsverzeichnis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113124"/>
                  </a:ext>
                </a:extLst>
              </a:tr>
            </a:tbl>
          </a:graphicData>
        </a:graphic>
      </p:graphicFrame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7" t="6468" r="4327" b="6468"/>
          <a:stretch/>
        </p:blipFill>
        <p:spPr>
          <a:xfrm rot="5400000">
            <a:off x="-262829" y="1447731"/>
            <a:ext cx="4109265" cy="3008932"/>
          </a:xfrm>
          <a:prstGeom prst="rect">
            <a:avLst/>
          </a:prstGeom>
        </p:spPr>
      </p:pic>
      <p:sp>
        <p:nvSpPr>
          <p:cNvPr id="9" name="Rechteck 8"/>
          <p:cNvSpPr/>
          <p:nvPr/>
        </p:nvSpPr>
        <p:spPr>
          <a:xfrm>
            <a:off x="783877" y="1275606"/>
            <a:ext cx="1152128" cy="2468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2030325" y="1275605"/>
            <a:ext cx="1152128" cy="2468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3505224" y="264206"/>
            <a:ext cx="404757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100" dirty="0">
                <a:hlinkClick r:id="rId6"/>
              </a:rPr>
              <a:t>https://services.dnb.de/sru/dnb?version=1.1&amp;operation=searchRetrieve&amp;query=982707010&amp;recordSchema=MARC21-xml&amp;maximumRecords=100</a:t>
            </a:r>
            <a:endParaRPr lang="de-DE" sz="110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954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287338" y="0"/>
            <a:ext cx="215900" cy="896400"/>
          </a:xfrm>
          <a:prstGeom prst="rect">
            <a:avLst/>
          </a:prstGeom>
          <a:solidFill>
            <a:srgbClr val="9EDF03"/>
          </a:solidFill>
          <a:ln w="9525">
            <a:noFill/>
            <a:miter lim="800000"/>
            <a:headEnd/>
            <a:tailEnd/>
          </a:ln>
        </p:spPr>
        <p:txBody>
          <a:bodyPr wrap="none" lIns="0" tIns="72000" rIns="0" bIns="0" anchor="ctr" anchorCtr="1"/>
          <a:lstStyle/>
          <a:p>
            <a:pPr algn="ctr"/>
            <a:fld id="{5E15879C-1943-4F80-9F3A-2F272C09993A}" type="slidenum">
              <a:rPr lang="de-DE" sz="1000" b="1"/>
              <a:pPr algn="ctr"/>
              <a:t>28</a:t>
            </a:fld>
            <a:endParaRPr lang="de-DE" sz="1000" b="1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63776" y="1447514"/>
            <a:ext cx="4135389" cy="3033161"/>
          </a:xfrm>
          <a:prstGeom prst="rect">
            <a:avLst/>
          </a:prstGeom>
        </p:spPr>
      </p:pic>
      <p:graphicFrame>
        <p:nvGraphicFramePr>
          <p:cNvPr id="8" name="Tabelle 7"/>
          <p:cNvGraphicFramePr>
            <a:graphicFrameLocks noGrp="1"/>
          </p:cNvGraphicFramePr>
          <p:nvPr/>
        </p:nvGraphicFramePr>
        <p:xfrm>
          <a:off x="3491880" y="1275606"/>
          <a:ext cx="5508104" cy="318484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13260">
                  <a:extLst>
                    <a:ext uri="{9D8B030D-6E8A-4147-A177-3AD203B41FA5}">
                      <a16:colId xmlns:a16="http://schemas.microsoft.com/office/drawing/2014/main" val="1442167043"/>
                    </a:ext>
                  </a:extLst>
                </a:gridCol>
                <a:gridCol w="4794844">
                  <a:extLst>
                    <a:ext uri="{9D8B030D-6E8A-4147-A177-3AD203B41FA5}">
                      <a16:colId xmlns:a16="http://schemas.microsoft.com/office/drawing/2014/main" val="273940883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Tag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Inhalt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428199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024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638117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082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$8 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370592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245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Adelige Streitkultur  $c</a:t>
                      </a:r>
                      <a:r>
                        <a:rPr lang="de-DE" sz="900" baseline="0" dirty="0" smtClean="0"/>
                        <a:t> herausgegeben von Gerd </a:t>
                      </a:r>
                      <a:r>
                        <a:rPr lang="de-DE" sz="900" baseline="0" dirty="0" err="1" smtClean="0"/>
                        <a:t>Dethlefs</a:t>
                      </a:r>
                      <a:r>
                        <a:rPr lang="de-DE" sz="900" baseline="0" dirty="0" smtClean="0"/>
                        <a:t> in Verbindung mit Ralf-Peter Fuchs, Ute K. </a:t>
                      </a:r>
                      <a:r>
                        <a:rPr lang="de-DE" sz="900" baseline="0" dirty="0" err="1" smtClean="0"/>
                        <a:t>Boonen</a:t>
                      </a:r>
                      <a:r>
                        <a:rPr lang="de-DE" sz="900" baseline="0" dirty="0" smtClean="0"/>
                        <a:t> und Luisa </a:t>
                      </a:r>
                      <a:r>
                        <a:rPr lang="de-DE" sz="900" baseline="0" dirty="0" err="1" smtClean="0"/>
                        <a:t>Röhrich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315854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264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[Münster]  $b </a:t>
                      </a:r>
                      <a:r>
                        <a:rPr lang="de-DE" sz="900" dirty="0" err="1" smtClean="0"/>
                        <a:t>Aschendorff</a:t>
                      </a:r>
                      <a:r>
                        <a:rPr lang="de-DE" sz="900" dirty="0" smtClean="0"/>
                        <a:t> Verlag  $c [2023]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594421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300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</a:t>
                      </a:r>
                      <a:r>
                        <a:rPr lang="de-DE" sz="900" baseline="0" dirty="0" smtClean="0"/>
                        <a:t> 236 Seiten  $b Illustrationen  $c 25 cm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21996"/>
                  </a:ext>
                </a:extLst>
              </a:tr>
              <a:tr h="23771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490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Rhein-Maas  $v Band 12 (2023)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64766"/>
                  </a:ext>
                </a:extLst>
              </a:tr>
              <a:tr h="249653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648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455551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637768"/>
                  </a:ext>
                </a:extLst>
              </a:tr>
              <a:tr h="217098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650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…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704857"/>
                  </a:ext>
                </a:extLst>
              </a:tr>
              <a:tr h="249654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700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</a:t>
                      </a:r>
                      <a:r>
                        <a:rPr lang="de-DE" sz="900" baseline="0" dirty="0" smtClean="0"/>
                        <a:t> </a:t>
                      </a:r>
                      <a:r>
                        <a:rPr lang="de-DE" sz="900" baseline="0" dirty="0" err="1" smtClean="0"/>
                        <a:t>Dethlefs</a:t>
                      </a:r>
                      <a:r>
                        <a:rPr lang="de-DE" sz="900" baseline="0" dirty="0" smtClean="0"/>
                        <a:t>, Gerd  $d 1958-  $e Herausgeber  $4 </a:t>
                      </a:r>
                      <a:r>
                        <a:rPr lang="de-DE" sz="900" baseline="0" dirty="0" err="1" smtClean="0"/>
                        <a:t>edt</a:t>
                      </a:r>
                      <a:r>
                        <a:rPr lang="de-DE" sz="900" baseline="0" dirty="0" smtClean="0"/>
                        <a:t>  $2 </a:t>
                      </a:r>
                      <a:r>
                        <a:rPr lang="de-DE" sz="900" baseline="0" dirty="0" err="1" smtClean="0"/>
                        <a:t>gnd</a:t>
                      </a:r>
                      <a:r>
                        <a:rPr lang="de-DE" sz="900" baseline="0" dirty="0" smtClean="0"/>
                        <a:t>  $0 (DE-588)110569660  $0 https://d-nb.info/gnd/110569660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04453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830</a:t>
                      </a:r>
                      <a:endParaRPr lang="de-DE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900" dirty="0" smtClean="0"/>
                        <a:t>$a Rhein-Maas</a:t>
                      </a:r>
                      <a:r>
                        <a:rPr lang="de-DE" sz="900" baseline="0" dirty="0" smtClean="0"/>
                        <a:t>  $v Band 12 (2023)  $w (DE-101)1002736889  $w (DE-600)2555043-3  $9 212  $7 </a:t>
                      </a:r>
                      <a:r>
                        <a:rPr lang="de-DE" sz="900" baseline="0" dirty="0" err="1" smtClean="0"/>
                        <a:t>as</a:t>
                      </a:r>
                      <a:endParaRPr lang="de-DE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113124"/>
                  </a:ext>
                </a:extLst>
              </a:tr>
            </a:tbl>
          </a:graphicData>
        </a:graphic>
      </p:graphicFrame>
      <p:sp>
        <p:nvSpPr>
          <p:cNvPr id="6" name="Rechteck 5"/>
          <p:cNvSpPr/>
          <p:nvPr/>
        </p:nvSpPr>
        <p:spPr>
          <a:xfrm>
            <a:off x="3419872" y="198803"/>
            <a:ext cx="4248472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050" dirty="0">
                <a:hlinkClick r:id="rId3"/>
              </a:rPr>
              <a:t>https://services.dnb.de/sru/dnb?version=1.1&amp;operation=searchRetrieve&amp;query=Adelige+Streitkultur&amp;recordSchema=MARC21-xml&amp;maximumRecords=100</a:t>
            </a:r>
            <a:endParaRPr lang="de-DE" sz="1050" dirty="0"/>
          </a:p>
        </p:txBody>
      </p:sp>
      <p:sp>
        <p:nvSpPr>
          <p:cNvPr id="11" name="Rechteck 10"/>
          <p:cNvSpPr/>
          <p:nvPr/>
        </p:nvSpPr>
        <p:spPr>
          <a:xfrm>
            <a:off x="755576" y="2427734"/>
            <a:ext cx="1224136" cy="2468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smtClean="0"/>
              <a:t>| Stephanie Nitsche | Arbeiten mit den Daten der DNB  |  02. Juni 2026  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924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7338" y="606"/>
            <a:ext cx="215900" cy="5140800"/>
          </a:xfrm>
          <a:prstGeom prst="rect">
            <a:avLst/>
          </a:prstGeom>
          <a:solidFill>
            <a:srgbClr val="0046C4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29</a:t>
            </a:r>
            <a:endParaRPr lang="de-DE" sz="1000" b="1" dirty="0"/>
          </a:p>
        </p:txBody>
      </p:sp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611560" y="1080000"/>
            <a:ext cx="2736304" cy="2211830"/>
          </a:xfrm>
        </p:spPr>
        <p:txBody>
          <a:bodyPr/>
          <a:lstStyle/>
          <a:p>
            <a:r>
              <a:rPr lang="de-DE" b="0" dirty="0" smtClean="0"/>
              <a:t>Ausführliche </a:t>
            </a:r>
            <a:r>
              <a:rPr lang="de-DE" b="0" dirty="0"/>
              <a:t>Dokumentation</a:t>
            </a:r>
            <a:r>
              <a:rPr lang="de-DE" b="0" dirty="0" smtClean="0"/>
              <a:t>: </a:t>
            </a:r>
            <a:r>
              <a:rPr lang="de-DE" b="0" dirty="0" smtClean="0">
                <a:hlinkClick r:id="rId3"/>
              </a:rPr>
              <a:t>dnb.de/marc21</a:t>
            </a:r>
            <a:r>
              <a:rPr lang="de-DE" b="0" dirty="0" smtClean="0"/>
              <a:t> </a:t>
            </a:r>
            <a:endParaRPr lang="de-DE" b="0" dirty="0"/>
          </a:p>
        </p:txBody>
      </p:sp>
      <p:pic>
        <p:nvPicPr>
          <p:cNvPr id="10" name="Inhaltsplatzhalter 4"/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b="13743"/>
          <a:stretch/>
        </p:blipFill>
        <p:spPr>
          <a:xfrm>
            <a:off x="539552" y="2859782"/>
            <a:ext cx="3085134" cy="1293434"/>
          </a:xfrm>
          <a:prstGeom prst="rect">
            <a:avLst/>
          </a:prstGeom>
        </p:spPr>
      </p:pic>
      <p:sp>
        <p:nvSpPr>
          <p:cNvPr id="6" name="Titel 1"/>
          <p:cNvSpPr txBox="1">
            <a:spLocks/>
          </p:cNvSpPr>
          <p:nvPr/>
        </p:nvSpPr>
        <p:spPr bwMode="auto">
          <a:xfrm>
            <a:off x="4211960" y="1080000"/>
            <a:ext cx="4752528" cy="77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de-DE" b="0" kern="0" dirty="0" smtClean="0"/>
              <a:t>Handout „Übersicht: Inhalte in MARC21-Feldern“: </a:t>
            </a:r>
            <a:r>
              <a:rPr lang="de-DE" b="0" u="sng" kern="0" dirty="0" smtClean="0">
                <a:solidFill>
                  <a:srgbClr val="3A8686"/>
                </a:solidFill>
                <a:hlinkClick r:id="rId3"/>
              </a:rPr>
              <a:t>dnb.de/</a:t>
            </a:r>
            <a:r>
              <a:rPr lang="de-DE" b="0" u="sng" kern="0" dirty="0" err="1" smtClean="0">
                <a:solidFill>
                  <a:srgbClr val="3A8686"/>
                </a:solidFill>
              </a:rPr>
              <a:t>dnblabtutorials</a:t>
            </a:r>
            <a:endParaRPr lang="de-DE" b="0" u="sng" kern="0" dirty="0">
              <a:solidFill>
                <a:srgbClr val="3A8686"/>
              </a:solidFill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016" y="2355726"/>
            <a:ext cx="3387588" cy="2249611"/>
          </a:xfrm>
          <a:prstGeom prst="rect">
            <a:avLst/>
          </a:prstGeom>
        </p:spPr>
      </p:pic>
      <p:sp>
        <p:nvSpPr>
          <p:cNvPr id="11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1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30</a:t>
            </a:r>
            <a:endParaRPr lang="de-DE" sz="1000" b="1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827584" y="1833974"/>
            <a:ext cx="8316416" cy="2754000"/>
          </a:xfrm>
        </p:spPr>
        <p:txBody>
          <a:bodyPr/>
          <a:lstStyle/>
          <a:p>
            <a:pPr marL="0" indent="0">
              <a:buNone/>
            </a:pPr>
            <a:r>
              <a:rPr lang="de-DE" sz="2400" b="1" dirty="0" smtClean="0"/>
              <a:t> </a:t>
            </a:r>
            <a:endParaRPr lang="de-DE" sz="2400" b="1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827584" y="987574"/>
            <a:ext cx="8460000" cy="777600"/>
          </a:xfrm>
        </p:spPr>
        <p:txBody>
          <a:bodyPr/>
          <a:lstStyle/>
          <a:p>
            <a:r>
              <a:rPr lang="de-DE" dirty="0" smtClean="0"/>
              <a:t>Metadatenanalyse</a:t>
            </a:r>
            <a:endParaRPr lang="de-DE" dirty="0"/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graphicFrame>
        <p:nvGraphicFramePr>
          <p:cNvPr id="8" name="Diagramm 7"/>
          <p:cNvGraphicFramePr/>
          <p:nvPr>
            <p:extLst>
              <p:ext uri="{D42A27DB-BD31-4B8C-83A1-F6EECF244321}">
                <p14:modId xmlns:p14="http://schemas.microsoft.com/office/powerpoint/2010/main" val="415808258"/>
              </p:ext>
            </p:extLst>
          </p:nvPr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Grafik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84" y="1491630"/>
            <a:ext cx="2104894" cy="2977994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8662" y="1540654"/>
            <a:ext cx="2094570" cy="2928970"/>
          </a:xfrm>
          <a:prstGeom prst="rect">
            <a:avLst/>
          </a:prstGeom>
        </p:spPr>
      </p:pic>
      <p:sp>
        <p:nvSpPr>
          <p:cNvPr id="2" name="Rechteck 1"/>
          <p:cNvSpPr/>
          <p:nvPr/>
        </p:nvSpPr>
        <p:spPr>
          <a:xfrm>
            <a:off x="5724128" y="2201823"/>
            <a:ext cx="29011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Handout unter </a:t>
            </a:r>
            <a:endParaRPr lang="de-DE" dirty="0" smtClean="0"/>
          </a:p>
          <a:p>
            <a:r>
              <a:rPr lang="de-DE" dirty="0" smtClean="0">
                <a:hlinkClick r:id="rId10"/>
              </a:rPr>
              <a:t>dnb.de/</a:t>
            </a:r>
            <a:r>
              <a:rPr lang="de-DE" dirty="0" err="1" smtClean="0">
                <a:hlinkClick r:id="rId10"/>
              </a:rPr>
              <a:t>dnblabtutorials</a:t>
            </a:r>
            <a:r>
              <a:rPr lang="de-DE" dirty="0" smtClean="0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05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31</a:t>
            </a:r>
            <a:endParaRPr lang="de-DE" sz="1000" b="1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827584" y="1833974"/>
            <a:ext cx="8316416" cy="2754000"/>
          </a:xfrm>
        </p:spPr>
        <p:txBody>
          <a:bodyPr/>
          <a:lstStyle/>
          <a:p>
            <a:pPr marL="0" indent="0">
              <a:buNone/>
            </a:pPr>
            <a:r>
              <a:rPr lang="de-DE" sz="2400" dirty="0" smtClean="0"/>
              <a:t>Extraktion der enthaltenen Informationen: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2400" dirty="0" smtClean="0"/>
              <a:t>Welche Informationen brauche ich? 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2400" dirty="0" smtClean="0"/>
              <a:t>In welchen Feldern finde ich diese? 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2400" dirty="0" smtClean="0"/>
              <a:t>Gibt es Abhängigkeiten oder sind noch Datenbereinigungen notwendig? </a:t>
            </a:r>
          </a:p>
          <a:p>
            <a:pPr marL="0" indent="0">
              <a:buNone/>
            </a:pPr>
            <a:endParaRPr lang="de-DE" sz="2400" b="1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827584" y="987574"/>
            <a:ext cx="8460000" cy="777600"/>
          </a:xfrm>
        </p:spPr>
        <p:txBody>
          <a:bodyPr/>
          <a:lstStyle/>
          <a:p>
            <a:r>
              <a:rPr lang="de-DE" dirty="0" smtClean="0"/>
              <a:t>Metadatenanalyse</a:t>
            </a:r>
            <a:endParaRPr lang="de-DE" dirty="0"/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graphicFrame>
        <p:nvGraphicFramePr>
          <p:cNvPr id="8" name="Diagramm 7"/>
          <p:cNvGraphicFramePr/>
          <p:nvPr/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576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r>
              <a:rPr lang="de-DE" sz="1000" b="1" dirty="0" smtClean="0"/>
              <a:t>32</a:t>
            </a:r>
            <a:endParaRPr lang="de-DE" sz="1000" b="1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827584" y="1833974"/>
            <a:ext cx="8316416" cy="2754000"/>
          </a:xfrm>
        </p:spPr>
        <p:txBody>
          <a:bodyPr/>
          <a:lstStyle/>
          <a:p>
            <a:pPr marL="0" indent="0">
              <a:buNone/>
            </a:pPr>
            <a:r>
              <a:rPr lang="de-DE" sz="2400" dirty="0" smtClean="0"/>
              <a:t>Technische Umsetzung:</a:t>
            </a:r>
          </a:p>
          <a:p>
            <a:pPr>
              <a:buFont typeface="Verdana" panose="020B0604030504040204" pitchFamily="34" charset="0"/>
              <a:buChar char="|"/>
            </a:pPr>
            <a:r>
              <a:rPr lang="de-DE" sz="2400" dirty="0" smtClean="0"/>
              <a:t>Bspw. mit Python und XML-Parser: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2000" dirty="0" smtClean="0"/>
              <a:t>jupyer.dnb.de </a:t>
            </a:r>
          </a:p>
          <a:p>
            <a:pPr lvl="1">
              <a:buFont typeface="Verdana" panose="020B0604030504040204" pitchFamily="34" charset="0"/>
              <a:buChar char="|"/>
            </a:pPr>
            <a:r>
              <a:rPr lang="de-DE" sz="2000" dirty="0" smtClean="0"/>
              <a:t>Alle Notebooks unter </a:t>
            </a:r>
          </a:p>
          <a:p>
            <a:pPr lvl="2">
              <a:buFont typeface="Verdana" panose="020B0604030504040204" pitchFamily="34" charset="0"/>
              <a:buChar char="|"/>
            </a:pPr>
            <a:r>
              <a:rPr lang="de-DE" sz="2000" dirty="0" smtClean="0">
                <a:hlinkClick r:id="rId3"/>
              </a:rPr>
              <a:t>www.dnb.de/dnblab</a:t>
            </a:r>
            <a:r>
              <a:rPr lang="de-DE" sz="2000" dirty="0" smtClean="0"/>
              <a:t> sowie</a:t>
            </a:r>
          </a:p>
          <a:p>
            <a:pPr lvl="2">
              <a:buFont typeface="Verdana" panose="020B0604030504040204" pitchFamily="34" charset="0"/>
              <a:buChar char="|"/>
            </a:pPr>
            <a:r>
              <a:rPr lang="de-DE" sz="2000" dirty="0" smtClean="0">
                <a:hlinkClick r:id="rId4"/>
              </a:rPr>
              <a:t>www.github.com/deutsche-nationalbibliothek/dnblab</a:t>
            </a:r>
            <a:r>
              <a:rPr lang="de-DE" sz="2000" dirty="0" smtClean="0"/>
              <a:t> </a:t>
            </a:r>
            <a:endParaRPr lang="de-DE" sz="2000" dirty="0" smtClean="0"/>
          </a:p>
          <a:p>
            <a:pPr>
              <a:buFont typeface="Verdana" panose="020B0604030504040204" pitchFamily="34" charset="0"/>
              <a:buChar char="|"/>
            </a:pPr>
            <a:r>
              <a:rPr lang="de-DE" sz="2400" dirty="0" smtClean="0"/>
              <a:t>Prototyp </a:t>
            </a:r>
            <a:r>
              <a:rPr lang="de-DE" sz="2400" dirty="0" err="1" smtClean="0"/>
              <a:t>SRUQueryTool</a:t>
            </a:r>
            <a:r>
              <a:rPr lang="de-DE" sz="2400" dirty="0" smtClean="0"/>
              <a:t> v2 / </a:t>
            </a:r>
            <a:r>
              <a:rPr lang="de-DE" sz="2400" dirty="0" err="1" smtClean="0"/>
              <a:t>DNBLapp</a:t>
            </a:r>
            <a:r>
              <a:rPr lang="de-DE" sz="2400" dirty="0" smtClean="0"/>
              <a:t> (</a:t>
            </a:r>
            <a:r>
              <a:rPr lang="de-DE" sz="2400" dirty="0" err="1" smtClean="0"/>
              <a:t>soon</a:t>
            </a:r>
            <a:r>
              <a:rPr lang="de-DE" sz="2400" dirty="0" smtClean="0"/>
              <a:t>)</a:t>
            </a:r>
          </a:p>
          <a:p>
            <a:pPr lvl="1">
              <a:buFont typeface="Verdana" panose="020B0604030504040204" pitchFamily="34" charset="0"/>
              <a:buChar char="|"/>
            </a:pPr>
            <a:endParaRPr lang="de-DE" sz="2000" dirty="0" smtClean="0"/>
          </a:p>
          <a:p>
            <a:pPr marL="0" indent="0">
              <a:buNone/>
            </a:pPr>
            <a:endParaRPr lang="de-DE" sz="2400" b="1" dirty="0"/>
          </a:p>
        </p:txBody>
      </p:sp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827584" y="987574"/>
            <a:ext cx="8460000" cy="777600"/>
          </a:xfrm>
        </p:spPr>
        <p:txBody>
          <a:bodyPr/>
          <a:lstStyle/>
          <a:p>
            <a:r>
              <a:rPr lang="de-DE" dirty="0" smtClean="0"/>
              <a:t>Metadatenanalyse</a:t>
            </a:r>
            <a:endParaRPr lang="de-DE" dirty="0"/>
          </a:p>
        </p:txBody>
      </p:sp>
      <p:sp>
        <p:nvSpPr>
          <p:cNvPr id="9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graphicFrame>
        <p:nvGraphicFramePr>
          <p:cNvPr id="8" name="Diagramm 7"/>
          <p:cNvGraphicFramePr/>
          <p:nvPr/>
        </p:nvGraphicFramePr>
        <p:xfrm>
          <a:off x="1403648" y="58607"/>
          <a:ext cx="6984702" cy="5689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32682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007EEF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445910AA-450F-473A-937C-EF1FE1582819}" type="slidenum">
              <a:rPr lang="de-DE" sz="1000" b="1" smtClean="0"/>
              <a:t>33</a:t>
            </a:fld>
            <a:endParaRPr lang="de-DE" sz="1000" b="1" dirty="0"/>
          </a:p>
        </p:txBody>
      </p:sp>
      <p:sp>
        <p:nvSpPr>
          <p:cNvPr id="6" name="Titel 7"/>
          <p:cNvSpPr txBox="1">
            <a:spLocks/>
          </p:cNvSpPr>
          <p:nvPr/>
        </p:nvSpPr>
        <p:spPr bwMode="auto">
          <a:xfrm>
            <a:off x="611560" y="2182354"/>
            <a:ext cx="8280920" cy="175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lnSpc>
                <a:spcPts val="30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/>
            <a:r>
              <a:rPr lang="de-DE" kern="0" dirty="0" smtClean="0">
                <a:solidFill>
                  <a:srgbClr val="009999"/>
                </a:solidFill>
              </a:rPr>
              <a:t>j</a:t>
            </a:r>
            <a:r>
              <a:rPr lang="de-DE" kern="0" dirty="0" smtClean="0">
                <a:solidFill>
                  <a:srgbClr val="009999"/>
                </a:solidFill>
              </a:rPr>
              <a:t>upyter.dnb.de</a:t>
            </a:r>
          </a:p>
          <a:p>
            <a:pPr algn="ctr"/>
            <a:endParaRPr lang="de-DE" kern="0" dirty="0"/>
          </a:p>
          <a:p>
            <a:pPr algn="ctr"/>
            <a:r>
              <a:rPr lang="de-DE" kern="0" dirty="0" smtClean="0"/>
              <a:t>oder:</a:t>
            </a:r>
          </a:p>
          <a:p>
            <a:pPr algn="ctr"/>
            <a:endParaRPr lang="de-DE" kern="0" dirty="0"/>
          </a:p>
          <a:p>
            <a:pPr algn="ctr"/>
            <a:r>
              <a:rPr lang="de-DE" kern="0" dirty="0">
                <a:hlinkClick r:id="rId2"/>
              </a:rPr>
              <a:t>https://</a:t>
            </a:r>
            <a:r>
              <a:rPr lang="de-DE" kern="0" dirty="0" smtClean="0">
                <a:hlinkClick r:id="rId2"/>
              </a:rPr>
              <a:t>tinyurl.com/DNBLab-de</a:t>
            </a:r>
            <a:r>
              <a:rPr lang="de-DE" kern="0" dirty="0" smtClean="0"/>
              <a:t> </a:t>
            </a:r>
            <a:endParaRPr lang="de-DE" kern="0" dirty="0" smtClean="0"/>
          </a:p>
          <a:p>
            <a:endParaRPr lang="de-DE" kern="0" dirty="0"/>
          </a:p>
          <a:p>
            <a:endParaRPr lang="de-DE" kern="0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827584" y="987574"/>
            <a:ext cx="8460000" cy="777600"/>
          </a:xfrm>
        </p:spPr>
        <p:txBody>
          <a:bodyPr/>
          <a:lstStyle/>
          <a:p>
            <a:r>
              <a:rPr lang="de-DE" dirty="0" smtClean="0"/>
              <a:t>Praktischer Teil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3916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795338" y="1131590"/>
            <a:ext cx="7593012" cy="777600"/>
          </a:xfrm>
        </p:spPr>
        <p:txBody>
          <a:bodyPr/>
          <a:lstStyle/>
          <a:p>
            <a:pPr marL="400050" lvl="2" indent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de-DE" dirty="0" smtClean="0"/>
              <a:t>Vielen Dank für Ihre Aufmerksamkeit!</a:t>
            </a:r>
            <a:br>
              <a:rPr lang="de-DE" dirty="0" smtClean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endParaRPr lang="de-DE" dirty="0"/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287338" y="0"/>
            <a:ext cx="215900" cy="5142310"/>
          </a:xfrm>
          <a:prstGeom prst="rect">
            <a:avLst/>
          </a:prstGeom>
          <a:solidFill>
            <a:srgbClr val="E62E2E"/>
          </a:solidFill>
          <a:ln w="9525">
            <a:noFill/>
            <a:miter lim="800000"/>
            <a:headEnd/>
            <a:tailEnd/>
          </a:ln>
        </p:spPr>
        <p:txBody>
          <a:bodyPr wrap="none" lIns="0" rIns="0" bIns="198000" anchor="b" anchorCtr="1"/>
          <a:lstStyle/>
          <a:p>
            <a:pPr algn="ctr"/>
            <a:fld id="{ACCBE4A5-7891-4FEA-B3C8-49962E3BA3F1}" type="slidenum">
              <a:rPr lang="de-DE" sz="1000" b="1" smtClean="0"/>
              <a:t>34</a:t>
            </a:fld>
            <a:endParaRPr lang="de-DE" sz="1000" b="1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514350" y="4788694"/>
            <a:ext cx="7874000" cy="153888"/>
          </a:xfrm>
          <a:noFill/>
        </p:spPr>
        <p:txBody>
          <a:bodyPr/>
          <a:lstStyle/>
          <a:p>
            <a:r>
              <a:rPr lang="de-DE" smtClean="0"/>
              <a:t>| Stephanie Nitsche | Arbeiten mit den Daten der DNB  |  02. Juni 2026  </a:t>
            </a:r>
            <a:endParaRPr lang="de-DE" dirty="0"/>
          </a:p>
        </p:txBody>
      </p:sp>
      <p:sp>
        <p:nvSpPr>
          <p:cNvPr id="2" name="Textfeld 1"/>
          <p:cNvSpPr txBox="1"/>
          <p:nvPr/>
        </p:nvSpPr>
        <p:spPr>
          <a:xfrm>
            <a:off x="1115616" y="3226672"/>
            <a:ext cx="56166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2"/>
                </a:solidFill>
              </a:rPr>
              <a:t>Links</a:t>
            </a:r>
            <a:r>
              <a:rPr lang="de-DE" b="1" dirty="0" smtClean="0">
                <a:solidFill>
                  <a:schemeClr val="tx2"/>
                </a:solidFill>
              </a:rPr>
              <a:t>:</a:t>
            </a:r>
          </a:p>
          <a:p>
            <a:r>
              <a:rPr lang="de-DE" sz="1600" dirty="0" smtClean="0">
                <a:hlinkClick r:id="rId3"/>
              </a:rPr>
              <a:t>www.dnb.de/dnblab</a:t>
            </a:r>
            <a:endParaRPr lang="de-DE" sz="1600" dirty="0" smtClean="0"/>
          </a:p>
          <a:p>
            <a:r>
              <a:rPr lang="de-DE" sz="1600" dirty="0" smtClean="0">
                <a:hlinkClick r:id="rId4"/>
              </a:rPr>
              <a:t>www.github.com/deutsche-nationalbibliothek/dnblab</a:t>
            </a:r>
            <a:endParaRPr lang="de-DE" sz="1600" dirty="0" smtClean="0"/>
          </a:p>
          <a:p>
            <a:r>
              <a:rPr lang="de-DE" sz="1600" dirty="0" smtClean="0"/>
              <a:t> </a:t>
            </a:r>
          </a:p>
          <a:p>
            <a:endParaRPr lang="de-DE" sz="1400" dirty="0" smtClean="0"/>
          </a:p>
          <a:p>
            <a:r>
              <a:rPr lang="de-DE" dirty="0" smtClean="0"/>
              <a:t> </a:t>
            </a:r>
            <a:endParaRPr lang="de-DE" dirty="0"/>
          </a:p>
        </p:txBody>
      </p:sp>
      <p:sp>
        <p:nvSpPr>
          <p:cNvPr id="3" name="Textfeld 2"/>
          <p:cNvSpPr txBox="1"/>
          <p:nvPr/>
        </p:nvSpPr>
        <p:spPr>
          <a:xfrm>
            <a:off x="1115616" y="1849315"/>
            <a:ext cx="237626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b="1" dirty="0"/>
              <a:t>Kontakt:</a:t>
            </a:r>
            <a:r>
              <a:rPr lang="de-DE" dirty="0"/>
              <a:t> </a:t>
            </a:r>
            <a:br>
              <a:rPr lang="de-DE" dirty="0"/>
            </a:br>
            <a:r>
              <a:rPr lang="de-DE" sz="1600" dirty="0">
                <a:hlinkClick r:id="rId5"/>
              </a:rPr>
              <a:t>s.nitsche@dnb.de</a:t>
            </a:r>
            <a:r>
              <a:rPr lang="de-DE" sz="1600" dirty="0"/>
              <a:t> </a:t>
            </a:r>
            <a:br>
              <a:rPr lang="de-DE" sz="1600" dirty="0"/>
            </a:br>
            <a:r>
              <a:rPr lang="de-DE" sz="1600" dirty="0" smtClean="0">
                <a:hlinkClick r:id="rId6"/>
              </a:rPr>
              <a:t>lab@dnb.de</a:t>
            </a:r>
            <a:r>
              <a:rPr lang="de-DE" sz="1600" dirty="0" smtClean="0"/>
              <a:t>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7251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NB-Vorlage">
  <a:themeElements>
    <a:clrScheme name="Larissa-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-Design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arissa-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rissa-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rissa-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PPT-Vorlage_16x9</Template>
  <TotalTime>0</TotalTime>
  <Words>1822</Words>
  <Application>Microsoft Office PowerPoint</Application>
  <PresentationFormat>Bildschirmpräsentation (16:9)</PresentationFormat>
  <Paragraphs>358</Paragraphs>
  <Slides>34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34</vt:i4>
      </vt:variant>
    </vt:vector>
  </HeadingPairs>
  <TitlesOfParts>
    <vt:vector size="40" baseType="lpstr">
      <vt:lpstr>Arial</vt:lpstr>
      <vt:lpstr>Segoe Script</vt:lpstr>
      <vt:lpstr>Symbol</vt:lpstr>
      <vt:lpstr>Verdana</vt:lpstr>
      <vt:lpstr>Wingdings</vt:lpstr>
      <vt:lpstr>DNB-Vorlage</vt:lpstr>
      <vt:lpstr>Arbeiten mit den Daten der Deutschen Nationalbibliothek </vt:lpstr>
      <vt:lpstr>Die DNB</vt:lpstr>
      <vt:lpstr>Überblick</vt:lpstr>
      <vt:lpstr>PowerPoint-Präsentation</vt:lpstr>
      <vt:lpstr>DNBLab</vt:lpstr>
      <vt:lpstr>DNBLab</vt:lpstr>
      <vt:lpstr>PowerPoint-Präsentation</vt:lpstr>
      <vt:lpstr>Aufgaben</vt:lpstr>
      <vt:lpstr>Suchen im Katalog</vt:lpstr>
      <vt:lpstr>Suchen im Katalog</vt:lpstr>
      <vt:lpstr>PowerPoint-Präsentation</vt:lpstr>
      <vt:lpstr>SRU  dnb.de/sru</vt:lpstr>
      <vt:lpstr>PowerPoint-Präsentation</vt:lpstr>
      <vt:lpstr>SRU-Abfrage im Browser</vt:lpstr>
      <vt:lpstr>SRU und CQL</vt:lpstr>
      <vt:lpstr>https://dnb-sru-demo.streamlit.app/ </vt:lpstr>
      <vt:lpstr>https://github.com/deutsche-nationalbibliothek/SRUQueryTool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MARC21-xml: </vt:lpstr>
      <vt:lpstr>MARC21-xml: </vt:lpstr>
      <vt:lpstr>MARC21-xml: </vt:lpstr>
      <vt:lpstr>PowerPoint-Präsentation</vt:lpstr>
      <vt:lpstr>PowerPoint-Präsentation</vt:lpstr>
      <vt:lpstr>PowerPoint-Präsentation</vt:lpstr>
      <vt:lpstr>Ausführliche Dokumentation: dnb.de/marc21 </vt:lpstr>
      <vt:lpstr>Metadatenanalyse</vt:lpstr>
      <vt:lpstr>Metadatenanalyse</vt:lpstr>
      <vt:lpstr>Metadatenanalyse</vt:lpstr>
      <vt:lpstr>Praktischer Teil</vt:lpstr>
      <vt:lpstr>Vielen Dank für Ihre Aufmerksamkeit!   </vt:lpstr>
    </vt:vector>
  </TitlesOfParts>
  <Company>Deutsche Nationalbibliothek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das Arbeiten mit dem DNBLab</dc:title>
  <dc:creator>Fuchs, Franziska</dc:creator>
  <cp:lastModifiedBy>Palek, Stephanie</cp:lastModifiedBy>
  <cp:revision>225</cp:revision>
  <dcterms:created xsi:type="dcterms:W3CDTF">2022-11-03T06:43:34Z</dcterms:created>
  <dcterms:modified xsi:type="dcterms:W3CDTF">2026-06-01T13:34:13Z</dcterms:modified>
</cp:coreProperties>
</file>